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Arial" panose="020B0604020202020204" pitchFamily="34" charset="0"/>
      <p:regular r:id="rId24"/>
    </p:embeddedFont>
    <p:embeddedFont>
      <p:font typeface="Arial Bold" panose="020B0704020202020204" pitchFamily="34" charset="0"/>
      <p:regular r:id="rId25"/>
      <p:bold r:id="rId26"/>
    </p:embeddedFont>
    <p:embeddedFont>
      <p:font typeface="Arial Italics" panose="020B0604020202090204" pitchFamily="34" charset="0"/>
      <p:regular r:id="rId27"/>
      <p: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libri Light" panose="020F0302020204030204" pitchFamily="34" charset="0"/>
      <p:regular r:id="rId33"/>
      <p:italic r:id="rId34"/>
    </p:embeddedFont>
    <p:embeddedFont>
      <p:font typeface="Courier New OS" panose="02070309020205020404" pitchFamily="49" charset="0"/>
      <p:regular r:id="rId35"/>
      <p:bold r:id="rId36"/>
      <p:italic r:id="rId37"/>
      <p:boldItalic r:id="rId38"/>
    </p:embeddedFont>
    <p:embeddedFont>
      <p:font typeface="Courier New OS Bold Italics" panose="02070309020205020404" pitchFamily="49" charset="0"/>
      <p:regular r:id="rId39"/>
      <p:bold r:id="rId40"/>
      <p:italic r:id="rId41"/>
      <p:boldItalic r:id="rId42"/>
    </p:embeddedFont>
  </p:embeddedFontLst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3" autoAdjust="0"/>
    <p:restoredTop sz="94638" autoAdjust="0"/>
  </p:normalViewPr>
  <p:slideViewPr>
    <p:cSldViewPr>
      <p:cViewPr varScale="1">
        <p:scale>
          <a:sx n="108" d="100"/>
          <a:sy n="108" d="100"/>
        </p:scale>
        <p:origin x="232" y="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3208-D60F-446D-2681-2869AE720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F4F8F-D533-34C9-22F5-57A81AC4C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34C20-0E14-CF47-7CB6-BEF02263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2B3CA-FC1B-2F81-ACAB-5BC2AC15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C5FC-C944-76B0-47B7-6C6E4213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2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2CF4-D9CC-4C8D-46C4-A60D252B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26462-73BA-8601-83C2-BFD5888E6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C9B63-710D-FF65-AD28-1B9A1A54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80A3E-EAB4-B7E2-1091-09AB6D64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67A6-E6BC-2EB6-6F2B-A1172F0E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3B29-BA1A-1840-B158-89DFF7D4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09A22-E2DE-7C94-D0E4-9A0118091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98C0A-6888-FCB7-8F42-39D6C3B3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B01A8-BC54-3B73-1378-1144407E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95DEB-AFE6-8F43-C318-A9A4BC3C5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3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7158-6EDE-FE2D-90EE-9BDC989E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B3EE-6EAB-FEE0-AFC3-B80079992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39D88-9508-A441-EB78-11D2A6FDD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5108-2D50-9EB8-85FE-918E9EC6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86161-3790-DD17-6DFA-880A6462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E8133-5D04-62FD-6393-C3376B75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9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FE3E-131D-471E-556C-52B7446F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D4114-EAEB-5019-0A2D-34370BA52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87503-C5EB-158C-6640-98561D7CD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3D26D-5A2A-D0DF-2748-F8E7381CD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9C78B9-162D-B286-77D9-A95CFDBAC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04006-F85F-5415-7FD7-8BCE42DB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5E0E7-AE16-0280-04EE-A749995D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08055-92E7-01DF-32A9-DB0F3E5A4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2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8364-6CF3-6D09-56F2-0956ED73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8DDBB-412B-336C-F657-7C6CE9E2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B60590-425B-FF3F-89FA-8CFF1E00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6E847-5A86-D60D-D618-94A0C297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1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7F689-7E31-9D34-BAE4-3339B5E9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68799-F6A9-61E5-C439-9D35DB6A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C250C-5E27-E2D4-4B20-E8A5C231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3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CCC3-6B32-2F62-2C9D-981EDA78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1BC9-72C0-33E9-1BC5-97544E8C8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BC8B9-30E9-8AF1-BCB1-7EA0B8834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25507-828B-9476-16C6-DA450B1F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6BFDA-1133-7AF7-19F8-769B3832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8E195-2F8E-EB1A-0309-D6FB514C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6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36C2-CD5B-41A7-1B6C-BDA60D7D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825A7-3F21-86CC-D094-DCB114355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76E6C-75CF-F288-27CE-BF539F4E0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8D288-3115-2C14-3E14-EDE39FBA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02136-1147-3B50-538E-477B7899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8081E-9884-756C-2D7E-1D69AEC7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7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9DB5-0929-F57F-F101-477CA7AB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0A218-0AD6-8586-0EA3-981EB3466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30A7C-5E18-03E4-D5E3-5603084C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59495-7B7E-85E1-5AE4-E0F8A829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F0025-32C0-849E-52B9-56A19FC4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3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99552-2DDE-4D6D-70FD-07F35893F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42D52-3C3B-773C-B801-EE63AA588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4DB48-21ED-561F-149C-6E099215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27D36-C82F-67DE-EB26-F1672C4E3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524F5-8EA5-C171-D8B1-3702CF45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5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85949-32DC-E527-67F9-6F22DE94E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21C90-DD7E-DED6-E2D3-8E515DEC9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808A0-5474-DC94-6BCD-0FCB80264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500A-95F5-5188-8FA2-C8C6BF9E4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D3AF9-68BD-9337-0C0B-474909B5C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94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svg"/><Relationship Id="rId27" Type="http://schemas.openxmlformats.org/officeDocument/2006/relationships/image" Target="../media/image26.svg"/><Relationship Id="rId30" Type="http://schemas.openxmlformats.org/officeDocument/2006/relationships/image" Target="../media/image29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svg"/><Relationship Id="rId18" Type="http://schemas.openxmlformats.org/officeDocument/2006/relationships/image" Target="../media/image40.png"/><Relationship Id="rId3" Type="http://schemas.openxmlformats.org/officeDocument/2006/relationships/image" Target="../media/image2.svg"/><Relationship Id="rId21" Type="http://schemas.openxmlformats.org/officeDocument/2006/relationships/image" Target="../media/image31.svg"/><Relationship Id="rId7" Type="http://schemas.openxmlformats.org/officeDocument/2006/relationships/image" Target="../media/image6.svg"/><Relationship Id="rId12" Type="http://schemas.openxmlformats.org/officeDocument/2006/relationships/image" Target="../media/image36.png"/><Relationship Id="rId17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5.svg"/><Relationship Id="rId5" Type="http://schemas.openxmlformats.org/officeDocument/2006/relationships/image" Target="../media/image4.svg"/><Relationship Id="rId15" Type="http://schemas.openxmlformats.org/officeDocument/2006/relationships/image" Target="../media/image24.svg"/><Relationship Id="rId10" Type="http://schemas.openxmlformats.org/officeDocument/2006/relationships/image" Target="../media/image34.png"/><Relationship Id="rId19" Type="http://schemas.openxmlformats.org/officeDocument/2006/relationships/image" Target="../media/image41.svg"/><Relationship Id="rId4" Type="http://schemas.openxmlformats.org/officeDocument/2006/relationships/image" Target="../media/image3.png"/><Relationship Id="rId9" Type="http://schemas.openxmlformats.org/officeDocument/2006/relationships/image" Target="../media/image33.sv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svg"/><Relationship Id="rId18" Type="http://schemas.openxmlformats.org/officeDocument/2006/relationships/image" Target="../media/image23.png"/><Relationship Id="rId26" Type="http://schemas.openxmlformats.org/officeDocument/2006/relationships/image" Target="../media/image30.png"/><Relationship Id="rId3" Type="http://schemas.openxmlformats.org/officeDocument/2006/relationships/image" Target="../media/image2.svg"/><Relationship Id="rId21" Type="http://schemas.openxmlformats.org/officeDocument/2006/relationships/image" Target="../media/image53.svg"/><Relationship Id="rId7" Type="http://schemas.openxmlformats.org/officeDocument/2006/relationships/image" Target="../media/image6.svg"/><Relationship Id="rId12" Type="http://schemas.openxmlformats.org/officeDocument/2006/relationships/image" Target="../media/image46.png"/><Relationship Id="rId17" Type="http://schemas.openxmlformats.org/officeDocument/2006/relationships/image" Target="../media/image51.svg"/><Relationship Id="rId25" Type="http://schemas.openxmlformats.org/officeDocument/2006/relationships/image" Target="../media/image57.svg"/><Relationship Id="rId2" Type="http://schemas.openxmlformats.org/officeDocument/2006/relationships/image" Target="../media/image1.png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5.svg"/><Relationship Id="rId24" Type="http://schemas.openxmlformats.org/officeDocument/2006/relationships/image" Target="../media/image56.png"/><Relationship Id="rId5" Type="http://schemas.openxmlformats.org/officeDocument/2006/relationships/image" Target="../media/image4.svg"/><Relationship Id="rId15" Type="http://schemas.openxmlformats.org/officeDocument/2006/relationships/image" Target="../media/image49.svg"/><Relationship Id="rId23" Type="http://schemas.openxmlformats.org/officeDocument/2006/relationships/image" Target="../media/image55.svg"/><Relationship Id="rId10" Type="http://schemas.openxmlformats.org/officeDocument/2006/relationships/image" Target="../media/image44.png"/><Relationship Id="rId19" Type="http://schemas.openxmlformats.org/officeDocument/2006/relationships/image" Target="../media/image24.svg"/><Relationship Id="rId4" Type="http://schemas.openxmlformats.org/officeDocument/2006/relationships/image" Target="../media/image3.png"/><Relationship Id="rId9" Type="http://schemas.openxmlformats.org/officeDocument/2006/relationships/image" Target="../media/image43.svg"/><Relationship Id="rId14" Type="http://schemas.openxmlformats.org/officeDocument/2006/relationships/image" Target="../media/image48.png"/><Relationship Id="rId22" Type="http://schemas.openxmlformats.org/officeDocument/2006/relationships/image" Target="../media/image54.png"/><Relationship Id="rId27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61.svg"/><Relationship Id="rId18" Type="http://schemas.openxmlformats.org/officeDocument/2006/relationships/image" Target="../media/image66.png"/><Relationship Id="rId3" Type="http://schemas.openxmlformats.org/officeDocument/2006/relationships/image" Target="../media/image2.svg"/><Relationship Id="rId21" Type="http://schemas.openxmlformats.org/officeDocument/2006/relationships/image" Target="../media/image31.svg"/><Relationship Id="rId7" Type="http://schemas.openxmlformats.org/officeDocument/2006/relationships/image" Target="../media/image6.svg"/><Relationship Id="rId12" Type="http://schemas.openxmlformats.org/officeDocument/2006/relationships/image" Target="../media/image60.png"/><Relationship Id="rId17" Type="http://schemas.openxmlformats.org/officeDocument/2006/relationships/image" Target="../media/image65.svg"/><Relationship Id="rId2" Type="http://schemas.openxmlformats.org/officeDocument/2006/relationships/image" Target="../media/image1.png"/><Relationship Id="rId16" Type="http://schemas.openxmlformats.org/officeDocument/2006/relationships/image" Target="../media/image64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9.svg"/><Relationship Id="rId5" Type="http://schemas.openxmlformats.org/officeDocument/2006/relationships/image" Target="../media/image4.svg"/><Relationship Id="rId15" Type="http://schemas.openxmlformats.org/officeDocument/2006/relationships/image" Target="../media/image63.svg"/><Relationship Id="rId10" Type="http://schemas.openxmlformats.org/officeDocument/2006/relationships/image" Target="../media/image58.png"/><Relationship Id="rId19" Type="http://schemas.openxmlformats.org/officeDocument/2006/relationships/image" Target="../media/image67.svg"/><Relationship Id="rId4" Type="http://schemas.openxmlformats.org/officeDocument/2006/relationships/image" Target="../media/image3.png"/><Relationship Id="rId9" Type="http://schemas.openxmlformats.org/officeDocument/2006/relationships/image" Target="../media/image24.svg"/><Relationship Id="rId14" Type="http://schemas.openxmlformats.org/officeDocument/2006/relationships/image" Target="../media/image6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71.svg"/><Relationship Id="rId18" Type="http://schemas.openxmlformats.org/officeDocument/2006/relationships/image" Target="../media/image76.png"/><Relationship Id="rId3" Type="http://schemas.openxmlformats.org/officeDocument/2006/relationships/image" Target="../media/image2.svg"/><Relationship Id="rId21" Type="http://schemas.openxmlformats.org/officeDocument/2006/relationships/image" Target="../media/image79.svg"/><Relationship Id="rId7" Type="http://schemas.openxmlformats.org/officeDocument/2006/relationships/image" Target="../media/image6.svg"/><Relationship Id="rId12" Type="http://schemas.openxmlformats.org/officeDocument/2006/relationships/image" Target="../media/image70.png"/><Relationship Id="rId17" Type="http://schemas.openxmlformats.org/officeDocument/2006/relationships/image" Target="../media/image75.svg"/><Relationship Id="rId25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69.svg"/><Relationship Id="rId24" Type="http://schemas.openxmlformats.org/officeDocument/2006/relationships/image" Target="../media/image30.png"/><Relationship Id="rId5" Type="http://schemas.openxmlformats.org/officeDocument/2006/relationships/image" Target="../media/image4.svg"/><Relationship Id="rId15" Type="http://schemas.openxmlformats.org/officeDocument/2006/relationships/image" Target="../media/image73.svg"/><Relationship Id="rId23" Type="http://schemas.openxmlformats.org/officeDocument/2006/relationships/image" Target="../media/image81.svg"/><Relationship Id="rId10" Type="http://schemas.openxmlformats.org/officeDocument/2006/relationships/image" Target="../media/image68.png"/><Relationship Id="rId19" Type="http://schemas.openxmlformats.org/officeDocument/2006/relationships/image" Target="../media/image77.svg"/><Relationship Id="rId4" Type="http://schemas.openxmlformats.org/officeDocument/2006/relationships/image" Target="../media/image3.png"/><Relationship Id="rId9" Type="http://schemas.openxmlformats.org/officeDocument/2006/relationships/image" Target="../media/image24.svg"/><Relationship Id="rId14" Type="http://schemas.openxmlformats.org/officeDocument/2006/relationships/image" Target="../media/image72.png"/><Relationship Id="rId22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0.svg"/><Relationship Id="rId18" Type="http://schemas.openxmlformats.org/officeDocument/2006/relationships/image" Target="../media/image95.svg"/><Relationship Id="rId3" Type="http://schemas.openxmlformats.org/officeDocument/2006/relationships/image" Target="../media/image83.svg"/><Relationship Id="rId21" Type="http://schemas.openxmlformats.org/officeDocument/2006/relationships/image" Target="../media/image98.png"/><Relationship Id="rId7" Type="http://schemas.openxmlformats.org/officeDocument/2006/relationships/image" Target="../media/image85.svg"/><Relationship Id="rId12" Type="http://schemas.openxmlformats.org/officeDocument/2006/relationships/image" Target="../media/image89.png"/><Relationship Id="rId17" Type="http://schemas.openxmlformats.org/officeDocument/2006/relationships/image" Target="../media/image94.svg"/><Relationship Id="rId2" Type="http://schemas.openxmlformats.org/officeDocument/2006/relationships/image" Target="../media/image82.png"/><Relationship Id="rId16" Type="http://schemas.openxmlformats.org/officeDocument/2006/relationships/image" Target="../media/image93.png"/><Relationship Id="rId20" Type="http://schemas.openxmlformats.org/officeDocument/2006/relationships/image" Target="../media/image9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8.svg"/><Relationship Id="rId24" Type="http://schemas.openxmlformats.org/officeDocument/2006/relationships/image" Target="../media/image101.svg"/><Relationship Id="rId5" Type="http://schemas.openxmlformats.org/officeDocument/2006/relationships/image" Target="../media/image4.svg"/><Relationship Id="rId15" Type="http://schemas.openxmlformats.org/officeDocument/2006/relationships/image" Target="../media/image92.svg"/><Relationship Id="rId23" Type="http://schemas.openxmlformats.org/officeDocument/2006/relationships/image" Target="../media/image100.png"/><Relationship Id="rId10" Type="http://schemas.openxmlformats.org/officeDocument/2006/relationships/image" Target="../media/image23.png"/><Relationship Id="rId19" Type="http://schemas.openxmlformats.org/officeDocument/2006/relationships/image" Target="../media/image96.png"/><Relationship Id="rId4" Type="http://schemas.openxmlformats.org/officeDocument/2006/relationships/image" Target="../media/image3.png"/><Relationship Id="rId9" Type="http://schemas.openxmlformats.org/officeDocument/2006/relationships/image" Target="../media/image87.svg"/><Relationship Id="rId14" Type="http://schemas.openxmlformats.org/officeDocument/2006/relationships/image" Target="../media/image91.png"/><Relationship Id="rId22" Type="http://schemas.openxmlformats.org/officeDocument/2006/relationships/image" Target="../media/image9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05.svg"/><Relationship Id="rId18" Type="http://schemas.openxmlformats.org/officeDocument/2006/relationships/image" Target="../media/image110.png"/><Relationship Id="rId26" Type="http://schemas.openxmlformats.org/officeDocument/2006/relationships/image" Target="../media/image30.png"/><Relationship Id="rId3" Type="http://schemas.openxmlformats.org/officeDocument/2006/relationships/image" Target="../media/image2.svg"/><Relationship Id="rId21" Type="http://schemas.openxmlformats.org/officeDocument/2006/relationships/image" Target="../media/image113.svg"/><Relationship Id="rId7" Type="http://schemas.openxmlformats.org/officeDocument/2006/relationships/image" Target="../media/image6.svg"/><Relationship Id="rId12" Type="http://schemas.openxmlformats.org/officeDocument/2006/relationships/image" Target="../media/image104.png"/><Relationship Id="rId17" Type="http://schemas.openxmlformats.org/officeDocument/2006/relationships/image" Target="../media/image109.svg"/><Relationship Id="rId25" Type="http://schemas.openxmlformats.org/officeDocument/2006/relationships/image" Target="../media/image117.svg"/><Relationship Id="rId2" Type="http://schemas.openxmlformats.org/officeDocument/2006/relationships/image" Target="../media/image1.png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3.svg"/><Relationship Id="rId24" Type="http://schemas.openxmlformats.org/officeDocument/2006/relationships/image" Target="../media/image116.png"/><Relationship Id="rId5" Type="http://schemas.openxmlformats.org/officeDocument/2006/relationships/image" Target="../media/image4.svg"/><Relationship Id="rId15" Type="http://schemas.openxmlformats.org/officeDocument/2006/relationships/image" Target="../media/image107.svg"/><Relationship Id="rId23" Type="http://schemas.openxmlformats.org/officeDocument/2006/relationships/image" Target="../media/image115.svg"/><Relationship Id="rId10" Type="http://schemas.openxmlformats.org/officeDocument/2006/relationships/image" Target="../media/image102.png"/><Relationship Id="rId19" Type="http://schemas.openxmlformats.org/officeDocument/2006/relationships/image" Target="../media/image111.svg"/><Relationship Id="rId4" Type="http://schemas.openxmlformats.org/officeDocument/2006/relationships/image" Target="../media/image3.png"/><Relationship Id="rId9" Type="http://schemas.openxmlformats.org/officeDocument/2006/relationships/image" Target="../media/image24.svg"/><Relationship Id="rId14" Type="http://schemas.openxmlformats.org/officeDocument/2006/relationships/image" Target="../media/image106.png"/><Relationship Id="rId22" Type="http://schemas.openxmlformats.org/officeDocument/2006/relationships/image" Target="../media/image114.svg"/><Relationship Id="rId27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24.svg"/><Relationship Id="rId18" Type="http://schemas.openxmlformats.org/officeDocument/2006/relationships/image" Target="../media/image126.png"/><Relationship Id="rId3" Type="http://schemas.openxmlformats.org/officeDocument/2006/relationships/image" Target="../media/image2.svg"/><Relationship Id="rId21" Type="http://schemas.openxmlformats.org/officeDocument/2006/relationships/image" Target="../media/image129.svg"/><Relationship Id="rId7" Type="http://schemas.openxmlformats.org/officeDocument/2006/relationships/image" Target="../media/image6.svg"/><Relationship Id="rId12" Type="http://schemas.openxmlformats.org/officeDocument/2006/relationships/image" Target="../media/image23.png"/><Relationship Id="rId17" Type="http://schemas.openxmlformats.org/officeDocument/2006/relationships/image" Target="../media/image125.svg"/><Relationship Id="rId2" Type="http://schemas.openxmlformats.org/officeDocument/2006/relationships/image" Target="../media/image1.png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1.svg"/><Relationship Id="rId5" Type="http://schemas.openxmlformats.org/officeDocument/2006/relationships/image" Target="../media/image4.svg"/><Relationship Id="rId15" Type="http://schemas.openxmlformats.org/officeDocument/2006/relationships/image" Target="../media/image123.svg"/><Relationship Id="rId23" Type="http://schemas.openxmlformats.org/officeDocument/2006/relationships/image" Target="../media/image31.svg"/><Relationship Id="rId10" Type="http://schemas.openxmlformats.org/officeDocument/2006/relationships/image" Target="../media/image120.png"/><Relationship Id="rId19" Type="http://schemas.openxmlformats.org/officeDocument/2006/relationships/image" Target="../media/image127.svg"/><Relationship Id="rId4" Type="http://schemas.openxmlformats.org/officeDocument/2006/relationships/image" Target="../media/image3.png"/><Relationship Id="rId9" Type="http://schemas.openxmlformats.org/officeDocument/2006/relationships/image" Target="../media/image119.svg"/><Relationship Id="rId14" Type="http://schemas.openxmlformats.org/officeDocument/2006/relationships/image" Target="../media/image122.png"/><Relationship Id="rId22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26" Type="http://schemas.openxmlformats.org/officeDocument/2006/relationships/image" Target="../media/image148.png"/><Relationship Id="rId3" Type="http://schemas.openxmlformats.org/officeDocument/2006/relationships/image" Target="../media/image2.svg"/><Relationship Id="rId21" Type="http://schemas.openxmlformats.org/officeDocument/2006/relationships/image" Target="../media/image143.svg"/><Relationship Id="rId34" Type="http://schemas.openxmlformats.org/officeDocument/2006/relationships/image" Target="../media/image156.png"/><Relationship Id="rId7" Type="http://schemas.openxmlformats.org/officeDocument/2006/relationships/image" Target="../media/image24.svg"/><Relationship Id="rId12" Type="http://schemas.openxmlformats.org/officeDocument/2006/relationships/image" Target="../media/image134.svg"/><Relationship Id="rId17" Type="http://schemas.openxmlformats.org/officeDocument/2006/relationships/image" Target="../media/image139.png"/><Relationship Id="rId25" Type="http://schemas.openxmlformats.org/officeDocument/2006/relationships/image" Target="../media/image147.svg"/><Relationship Id="rId33" Type="http://schemas.openxmlformats.org/officeDocument/2006/relationships/image" Target="../media/image155.svg"/><Relationship Id="rId2" Type="http://schemas.openxmlformats.org/officeDocument/2006/relationships/image" Target="../media/image1.png"/><Relationship Id="rId16" Type="http://schemas.openxmlformats.org/officeDocument/2006/relationships/image" Target="../media/image138.svg"/><Relationship Id="rId20" Type="http://schemas.openxmlformats.org/officeDocument/2006/relationships/image" Target="../media/image142.png"/><Relationship Id="rId29" Type="http://schemas.openxmlformats.org/officeDocument/2006/relationships/image" Target="../media/image1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133.png"/><Relationship Id="rId24" Type="http://schemas.openxmlformats.org/officeDocument/2006/relationships/image" Target="../media/image146.png"/><Relationship Id="rId32" Type="http://schemas.openxmlformats.org/officeDocument/2006/relationships/image" Target="../media/image154.png"/><Relationship Id="rId5" Type="http://schemas.openxmlformats.org/officeDocument/2006/relationships/image" Target="../media/image4.svg"/><Relationship Id="rId15" Type="http://schemas.openxmlformats.org/officeDocument/2006/relationships/image" Target="../media/image137.png"/><Relationship Id="rId23" Type="http://schemas.openxmlformats.org/officeDocument/2006/relationships/image" Target="../media/image145.svg"/><Relationship Id="rId28" Type="http://schemas.openxmlformats.org/officeDocument/2006/relationships/image" Target="../media/image150.png"/><Relationship Id="rId10" Type="http://schemas.openxmlformats.org/officeDocument/2006/relationships/image" Target="../media/image132.png"/><Relationship Id="rId19" Type="http://schemas.openxmlformats.org/officeDocument/2006/relationships/image" Target="../media/image141.svg"/><Relationship Id="rId31" Type="http://schemas.openxmlformats.org/officeDocument/2006/relationships/image" Target="../media/image153.svg"/><Relationship Id="rId4" Type="http://schemas.openxmlformats.org/officeDocument/2006/relationships/image" Target="../media/image3.png"/><Relationship Id="rId9" Type="http://schemas.openxmlformats.org/officeDocument/2006/relationships/image" Target="../media/image131.svg"/><Relationship Id="rId14" Type="http://schemas.openxmlformats.org/officeDocument/2006/relationships/image" Target="../media/image136.svg"/><Relationship Id="rId22" Type="http://schemas.openxmlformats.org/officeDocument/2006/relationships/image" Target="../media/image144.png"/><Relationship Id="rId27" Type="http://schemas.openxmlformats.org/officeDocument/2006/relationships/image" Target="../media/image149.svg"/><Relationship Id="rId30" Type="http://schemas.openxmlformats.org/officeDocument/2006/relationships/image" Target="../media/image152.png"/><Relationship Id="rId35" Type="http://schemas.openxmlformats.org/officeDocument/2006/relationships/image" Target="../media/image157.svg"/><Relationship Id="rId8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26" Type="http://schemas.openxmlformats.org/officeDocument/2006/relationships/image" Target="../media/image176.png"/><Relationship Id="rId39" Type="http://schemas.openxmlformats.org/officeDocument/2006/relationships/image" Target="../media/image189.svg"/><Relationship Id="rId21" Type="http://schemas.openxmlformats.org/officeDocument/2006/relationships/image" Target="../media/image171.svg"/><Relationship Id="rId34" Type="http://schemas.openxmlformats.org/officeDocument/2006/relationships/image" Target="../media/image184.svg"/><Relationship Id="rId42" Type="http://schemas.openxmlformats.org/officeDocument/2006/relationships/image" Target="../media/image192.png"/><Relationship Id="rId47" Type="http://schemas.openxmlformats.org/officeDocument/2006/relationships/image" Target="../media/image197.png"/><Relationship Id="rId50" Type="http://schemas.openxmlformats.org/officeDocument/2006/relationships/image" Target="../media/image200.svg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66.svg"/><Relationship Id="rId29" Type="http://schemas.openxmlformats.org/officeDocument/2006/relationships/image" Target="../media/image179.svg"/><Relationship Id="rId11" Type="http://schemas.openxmlformats.org/officeDocument/2006/relationships/image" Target="../media/image161.png"/><Relationship Id="rId24" Type="http://schemas.openxmlformats.org/officeDocument/2006/relationships/image" Target="../media/image174.png"/><Relationship Id="rId32" Type="http://schemas.openxmlformats.org/officeDocument/2006/relationships/image" Target="../media/image182.svg"/><Relationship Id="rId37" Type="http://schemas.openxmlformats.org/officeDocument/2006/relationships/image" Target="../media/image187.svg"/><Relationship Id="rId40" Type="http://schemas.openxmlformats.org/officeDocument/2006/relationships/image" Target="../media/image190.png"/><Relationship Id="rId45" Type="http://schemas.openxmlformats.org/officeDocument/2006/relationships/image" Target="../media/image195.png"/><Relationship Id="rId5" Type="http://schemas.openxmlformats.org/officeDocument/2006/relationships/image" Target="../media/image4.svg"/><Relationship Id="rId15" Type="http://schemas.openxmlformats.org/officeDocument/2006/relationships/image" Target="../media/image165.png"/><Relationship Id="rId23" Type="http://schemas.openxmlformats.org/officeDocument/2006/relationships/image" Target="../media/image173.svg"/><Relationship Id="rId28" Type="http://schemas.openxmlformats.org/officeDocument/2006/relationships/image" Target="../media/image178.png"/><Relationship Id="rId36" Type="http://schemas.openxmlformats.org/officeDocument/2006/relationships/image" Target="../media/image186.png"/><Relationship Id="rId49" Type="http://schemas.openxmlformats.org/officeDocument/2006/relationships/image" Target="../media/image199.png"/><Relationship Id="rId10" Type="http://schemas.openxmlformats.org/officeDocument/2006/relationships/image" Target="../media/image160.png"/><Relationship Id="rId19" Type="http://schemas.openxmlformats.org/officeDocument/2006/relationships/image" Target="../media/image169.svg"/><Relationship Id="rId31" Type="http://schemas.openxmlformats.org/officeDocument/2006/relationships/image" Target="../media/image181.png"/><Relationship Id="rId44" Type="http://schemas.openxmlformats.org/officeDocument/2006/relationships/image" Target="../media/image194.svg"/><Relationship Id="rId52" Type="http://schemas.openxmlformats.org/officeDocument/2006/relationships/image" Target="../media/image202.svg"/><Relationship Id="rId4" Type="http://schemas.openxmlformats.org/officeDocument/2006/relationships/image" Target="../media/image3.png"/><Relationship Id="rId9" Type="http://schemas.openxmlformats.org/officeDocument/2006/relationships/image" Target="../media/image159.svg"/><Relationship Id="rId14" Type="http://schemas.openxmlformats.org/officeDocument/2006/relationships/image" Target="../media/image164.svg"/><Relationship Id="rId22" Type="http://schemas.openxmlformats.org/officeDocument/2006/relationships/image" Target="../media/image172.png"/><Relationship Id="rId27" Type="http://schemas.openxmlformats.org/officeDocument/2006/relationships/image" Target="../media/image177.svg"/><Relationship Id="rId30" Type="http://schemas.openxmlformats.org/officeDocument/2006/relationships/image" Target="../media/image180.png"/><Relationship Id="rId35" Type="http://schemas.openxmlformats.org/officeDocument/2006/relationships/image" Target="../media/image185.png"/><Relationship Id="rId43" Type="http://schemas.openxmlformats.org/officeDocument/2006/relationships/image" Target="../media/image193.png"/><Relationship Id="rId48" Type="http://schemas.openxmlformats.org/officeDocument/2006/relationships/image" Target="../media/image198.svg"/><Relationship Id="rId8" Type="http://schemas.openxmlformats.org/officeDocument/2006/relationships/image" Target="../media/image158.png"/><Relationship Id="rId51" Type="http://schemas.openxmlformats.org/officeDocument/2006/relationships/image" Target="../media/image201.png"/><Relationship Id="rId3" Type="http://schemas.openxmlformats.org/officeDocument/2006/relationships/image" Target="../media/image2.svg"/><Relationship Id="rId12" Type="http://schemas.openxmlformats.org/officeDocument/2006/relationships/image" Target="../media/image162.svg"/><Relationship Id="rId17" Type="http://schemas.openxmlformats.org/officeDocument/2006/relationships/image" Target="../media/image167.png"/><Relationship Id="rId25" Type="http://schemas.openxmlformats.org/officeDocument/2006/relationships/image" Target="../media/image175.svg"/><Relationship Id="rId33" Type="http://schemas.openxmlformats.org/officeDocument/2006/relationships/image" Target="../media/image183.png"/><Relationship Id="rId38" Type="http://schemas.openxmlformats.org/officeDocument/2006/relationships/image" Target="../media/image188.png"/><Relationship Id="rId46" Type="http://schemas.openxmlformats.org/officeDocument/2006/relationships/image" Target="../media/image196.svg"/><Relationship Id="rId20" Type="http://schemas.openxmlformats.org/officeDocument/2006/relationships/image" Target="../media/image170.png"/><Relationship Id="rId41" Type="http://schemas.openxmlformats.org/officeDocument/2006/relationships/image" Target="../media/image19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7.svg"/><Relationship Id="rId18" Type="http://schemas.openxmlformats.org/officeDocument/2006/relationships/image" Target="../media/image212.svg"/><Relationship Id="rId3" Type="http://schemas.openxmlformats.org/officeDocument/2006/relationships/image" Target="../media/image2.svg"/><Relationship Id="rId21" Type="http://schemas.openxmlformats.org/officeDocument/2006/relationships/image" Target="../media/image215.png"/><Relationship Id="rId7" Type="http://schemas.openxmlformats.org/officeDocument/2006/relationships/image" Target="../media/image203.svg"/><Relationship Id="rId12" Type="http://schemas.openxmlformats.org/officeDocument/2006/relationships/image" Target="../media/image206.png"/><Relationship Id="rId17" Type="http://schemas.openxmlformats.org/officeDocument/2006/relationships/image" Target="../media/image211.png"/><Relationship Id="rId2" Type="http://schemas.openxmlformats.org/officeDocument/2006/relationships/image" Target="../media/image1.png"/><Relationship Id="rId16" Type="http://schemas.openxmlformats.org/officeDocument/2006/relationships/image" Target="../media/image210.png"/><Relationship Id="rId20" Type="http://schemas.openxmlformats.org/officeDocument/2006/relationships/image" Target="../media/image2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11" Type="http://schemas.openxmlformats.org/officeDocument/2006/relationships/image" Target="../media/image24.svg"/><Relationship Id="rId5" Type="http://schemas.openxmlformats.org/officeDocument/2006/relationships/image" Target="../media/image4.svg"/><Relationship Id="rId15" Type="http://schemas.openxmlformats.org/officeDocument/2006/relationships/image" Target="../media/image209.svg"/><Relationship Id="rId23" Type="http://schemas.openxmlformats.org/officeDocument/2006/relationships/image" Target="../media/image217.svg"/><Relationship Id="rId10" Type="http://schemas.openxmlformats.org/officeDocument/2006/relationships/image" Target="../media/image23.png"/><Relationship Id="rId19" Type="http://schemas.openxmlformats.org/officeDocument/2006/relationships/image" Target="../media/image213.png"/><Relationship Id="rId4" Type="http://schemas.openxmlformats.org/officeDocument/2006/relationships/image" Target="../media/image3.png"/><Relationship Id="rId9" Type="http://schemas.openxmlformats.org/officeDocument/2006/relationships/image" Target="../media/image205.svg"/><Relationship Id="rId14" Type="http://schemas.openxmlformats.org/officeDocument/2006/relationships/image" Target="../media/image208.png"/><Relationship Id="rId22" Type="http://schemas.openxmlformats.org/officeDocument/2006/relationships/image" Target="../media/image21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26" Type="http://schemas.openxmlformats.org/officeDocument/2006/relationships/image" Target="../media/image235.png"/><Relationship Id="rId3" Type="http://schemas.openxmlformats.org/officeDocument/2006/relationships/image" Target="../media/image2.svg"/><Relationship Id="rId21" Type="http://schemas.openxmlformats.org/officeDocument/2006/relationships/image" Target="../media/image230.png"/><Relationship Id="rId34" Type="http://schemas.openxmlformats.org/officeDocument/2006/relationships/image" Target="../media/image243.png"/><Relationship Id="rId7" Type="http://schemas.openxmlformats.org/officeDocument/2006/relationships/image" Target="../media/image24.svg"/><Relationship Id="rId12" Type="http://schemas.openxmlformats.org/officeDocument/2006/relationships/image" Target="../media/image221.svg"/><Relationship Id="rId17" Type="http://schemas.openxmlformats.org/officeDocument/2006/relationships/image" Target="../media/image226.svg"/><Relationship Id="rId25" Type="http://schemas.openxmlformats.org/officeDocument/2006/relationships/image" Target="../media/image234.svg"/><Relationship Id="rId33" Type="http://schemas.openxmlformats.org/officeDocument/2006/relationships/image" Target="../media/image242.svg"/><Relationship Id="rId2" Type="http://schemas.openxmlformats.org/officeDocument/2006/relationships/image" Target="../media/image1.png"/><Relationship Id="rId16" Type="http://schemas.openxmlformats.org/officeDocument/2006/relationships/image" Target="../media/image225.png"/><Relationship Id="rId20" Type="http://schemas.openxmlformats.org/officeDocument/2006/relationships/image" Target="../media/image229.svg"/><Relationship Id="rId29" Type="http://schemas.openxmlformats.org/officeDocument/2006/relationships/image" Target="../media/image2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20.png"/><Relationship Id="rId24" Type="http://schemas.openxmlformats.org/officeDocument/2006/relationships/image" Target="../media/image233.png"/><Relationship Id="rId32" Type="http://schemas.openxmlformats.org/officeDocument/2006/relationships/image" Target="../media/image241.png"/><Relationship Id="rId5" Type="http://schemas.openxmlformats.org/officeDocument/2006/relationships/image" Target="../media/image4.svg"/><Relationship Id="rId15" Type="http://schemas.openxmlformats.org/officeDocument/2006/relationships/image" Target="../media/image224.png"/><Relationship Id="rId23" Type="http://schemas.openxmlformats.org/officeDocument/2006/relationships/image" Target="../media/image232.png"/><Relationship Id="rId28" Type="http://schemas.openxmlformats.org/officeDocument/2006/relationships/image" Target="../media/image237.svg"/><Relationship Id="rId10" Type="http://schemas.openxmlformats.org/officeDocument/2006/relationships/image" Target="../media/image219.png"/><Relationship Id="rId19" Type="http://schemas.openxmlformats.org/officeDocument/2006/relationships/image" Target="../media/image228.png"/><Relationship Id="rId31" Type="http://schemas.openxmlformats.org/officeDocument/2006/relationships/image" Target="../media/image240.png"/><Relationship Id="rId4" Type="http://schemas.openxmlformats.org/officeDocument/2006/relationships/image" Target="../media/image3.png"/><Relationship Id="rId9" Type="http://schemas.openxmlformats.org/officeDocument/2006/relationships/image" Target="../media/image218.svg"/><Relationship Id="rId14" Type="http://schemas.openxmlformats.org/officeDocument/2006/relationships/image" Target="../media/image223.svg"/><Relationship Id="rId22" Type="http://schemas.openxmlformats.org/officeDocument/2006/relationships/image" Target="../media/image231.svg"/><Relationship Id="rId27" Type="http://schemas.openxmlformats.org/officeDocument/2006/relationships/image" Target="../media/image236.png"/><Relationship Id="rId30" Type="http://schemas.openxmlformats.org/officeDocument/2006/relationships/image" Target="../media/image239.svg"/><Relationship Id="rId35" Type="http://schemas.openxmlformats.org/officeDocument/2006/relationships/image" Target="../media/image244.svg"/><Relationship Id="rId8" Type="http://schemas.openxmlformats.org/officeDocument/2006/relationships/image" Target="../media/image9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svg"/><Relationship Id="rId18" Type="http://schemas.openxmlformats.org/officeDocument/2006/relationships/image" Target="../media/image253.png"/><Relationship Id="rId3" Type="http://schemas.openxmlformats.org/officeDocument/2006/relationships/image" Target="../media/image83.svg"/><Relationship Id="rId21" Type="http://schemas.openxmlformats.org/officeDocument/2006/relationships/image" Target="../media/image101.svg"/><Relationship Id="rId7" Type="http://schemas.openxmlformats.org/officeDocument/2006/relationships/image" Target="../media/image85.svg"/><Relationship Id="rId12" Type="http://schemas.openxmlformats.org/officeDocument/2006/relationships/image" Target="../media/image249.svg"/><Relationship Id="rId17" Type="http://schemas.openxmlformats.org/officeDocument/2006/relationships/image" Target="../media/image252.svg"/><Relationship Id="rId2" Type="http://schemas.openxmlformats.org/officeDocument/2006/relationships/image" Target="../media/image82.png"/><Relationship Id="rId16" Type="http://schemas.openxmlformats.org/officeDocument/2006/relationships/image" Target="../media/image251.png"/><Relationship Id="rId20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248.svg"/><Relationship Id="rId5" Type="http://schemas.openxmlformats.org/officeDocument/2006/relationships/image" Target="../media/image4.svg"/><Relationship Id="rId15" Type="http://schemas.openxmlformats.org/officeDocument/2006/relationships/image" Target="../media/image88.svg"/><Relationship Id="rId10" Type="http://schemas.openxmlformats.org/officeDocument/2006/relationships/image" Target="../media/image247.png"/><Relationship Id="rId19" Type="http://schemas.openxmlformats.org/officeDocument/2006/relationships/image" Target="../media/image254.svg"/><Relationship Id="rId4" Type="http://schemas.openxmlformats.org/officeDocument/2006/relationships/image" Target="../media/image3.png"/><Relationship Id="rId9" Type="http://schemas.openxmlformats.org/officeDocument/2006/relationships/image" Target="../media/image246.svg"/><Relationship Id="rId1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13" Type="http://schemas.openxmlformats.org/officeDocument/2006/relationships/image" Target="../media/image260.svg"/><Relationship Id="rId18" Type="http://schemas.openxmlformats.org/officeDocument/2006/relationships/image" Target="../media/image263.png"/><Relationship Id="rId3" Type="http://schemas.openxmlformats.org/officeDocument/2006/relationships/image" Target="../media/image2.svg"/><Relationship Id="rId21" Type="http://schemas.openxmlformats.org/officeDocument/2006/relationships/image" Target="../media/image266.svg"/><Relationship Id="rId7" Type="http://schemas.openxmlformats.org/officeDocument/2006/relationships/image" Target="../media/image6.svg"/><Relationship Id="rId12" Type="http://schemas.openxmlformats.org/officeDocument/2006/relationships/image" Target="../media/image259.svg"/><Relationship Id="rId17" Type="http://schemas.openxmlformats.org/officeDocument/2006/relationships/image" Target="../media/image262.svg"/><Relationship Id="rId25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261.png"/><Relationship Id="rId20" Type="http://schemas.openxmlformats.org/officeDocument/2006/relationships/image" Target="../media/image26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58.svg"/><Relationship Id="rId24" Type="http://schemas.openxmlformats.org/officeDocument/2006/relationships/image" Target="../media/image30.png"/><Relationship Id="rId5" Type="http://schemas.openxmlformats.org/officeDocument/2006/relationships/image" Target="../media/image4.svg"/><Relationship Id="rId15" Type="http://schemas.openxmlformats.org/officeDocument/2006/relationships/image" Target="../media/image24.svg"/><Relationship Id="rId23" Type="http://schemas.openxmlformats.org/officeDocument/2006/relationships/image" Target="../media/image268.svg"/><Relationship Id="rId10" Type="http://schemas.openxmlformats.org/officeDocument/2006/relationships/image" Target="../media/image257.svg"/><Relationship Id="rId19" Type="http://schemas.openxmlformats.org/officeDocument/2006/relationships/image" Target="../media/image264.svg"/><Relationship Id="rId4" Type="http://schemas.openxmlformats.org/officeDocument/2006/relationships/image" Target="../media/image3.png"/><Relationship Id="rId9" Type="http://schemas.openxmlformats.org/officeDocument/2006/relationships/image" Target="../media/image256.svg"/><Relationship Id="rId14" Type="http://schemas.openxmlformats.org/officeDocument/2006/relationships/image" Target="../media/image23.png"/><Relationship Id="rId22" Type="http://schemas.openxmlformats.org/officeDocument/2006/relationships/image" Target="../media/image26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7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271.png"/><Relationship Id="rId2" Type="http://schemas.openxmlformats.org/officeDocument/2006/relationships/image" Target="../media/image1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4.svg"/><Relationship Id="rId5" Type="http://schemas.openxmlformats.org/officeDocument/2006/relationships/image" Target="../media/image4.svg"/><Relationship Id="rId15" Type="http://schemas.openxmlformats.org/officeDocument/2006/relationships/image" Target="../media/image30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70.svg"/><Relationship Id="rId14" Type="http://schemas.openxmlformats.org/officeDocument/2006/relationships/image" Target="../media/image273.sv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9.svg"/><Relationship Id="rId18" Type="http://schemas.openxmlformats.org/officeDocument/2006/relationships/image" Target="../media/image284.png"/><Relationship Id="rId26" Type="http://schemas.openxmlformats.org/officeDocument/2006/relationships/image" Target="../media/image289.png"/><Relationship Id="rId3" Type="http://schemas.openxmlformats.org/officeDocument/2006/relationships/image" Target="../media/image2.svg"/><Relationship Id="rId21" Type="http://schemas.openxmlformats.org/officeDocument/2006/relationships/image" Target="../media/image286.svg"/><Relationship Id="rId34" Type="http://schemas.openxmlformats.org/officeDocument/2006/relationships/image" Target="../media/image31.svg"/><Relationship Id="rId7" Type="http://schemas.openxmlformats.org/officeDocument/2006/relationships/image" Target="../media/image6.svg"/><Relationship Id="rId12" Type="http://schemas.openxmlformats.org/officeDocument/2006/relationships/image" Target="../media/image278.png"/><Relationship Id="rId17" Type="http://schemas.openxmlformats.org/officeDocument/2006/relationships/image" Target="../media/image283.svg"/><Relationship Id="rId25" Type="http://schemas.openxmlformats.org/officeDocument/2006/relationships/image" Target="../media/image288.svg"/><Relationship Id="rId33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282.svg"/><Relationship Id="rId20" Type="http://schemas.openxmlformats.org/officeDocument/2006/relationships/image" Target="../media/image190.png"/><Relationship Id="rId29" Type="http://schemas.openxmlformats.org/officeDocument/2006/relationships/image" Target="../media/image29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77.svg"/><Relationship Id="rId24" Type="http://schemas.openxmlformats.org/officeDocument/2006/relationships/image" Target="../media/image287.png"/><Relationship Id="rId32" Type="http://schemas.openxmlformats.org/officeDocument/2006/relationships/image" Target="../media/image295.svg"/><Relationship Id="rId5" Type="http://schemas.openxmlformats.org/officeDocument/2006/relationships/image" Target="../media/image4.svg"/><Relationship Id="rId15" Type="http://schemas.openxmlformats.org/officeDocument/2006/relationships/image" Target="../media/image281.svg"/><Relationship Id="rId23" Type="http://schemas.openxmlformats.org/officeDocument/2006/relationships/image" Target="../media/image24.svg"/><Relationship Id="rId28" Type="http://schemas.openxmlformats.org/officeDocument/2006/relationships/image" Target="../media/image291.png"/><Relationship Id="rId10" Type="http://schemas.openxmlformats.org/officeDocument/2006/relationships/image" Target="../media/image276.png"/><Relationship Id="rId19" Type="http://schemas.openxmlformats.org/officeDocument/2006/relationships/image" Target="../media/image285.svg"/><Relationship Id="rId31" Type="http://schemas.openxmlformats.org/officeDocument/2006/relationships/image" Target="../media/image294.svg"/><Relationship Id="rId4" Type="http://schemas.openxmlformats.org/officeDocument/2006/relationships/image" Target="../media/image3.png"/><Relationship Id="rId9" Type="http://schemas.openxmlformats.org/officeDocument/2006/relationships/image" Target="../media/image275.svg"/><Relationship Id="rId14" Type="http://schemas.openxmlformats.org/officeDocument/2006/relationships/image" Target="../media/image280.png"/><Relationship Id="rId22" Type="http://schemas.openxmlformats.org/officeDocument/2006/relationships/image" Target="../media/image23.png"/><Relationship Id="rId27" Type="http://schemas.openxmlformats.org/officeDocument/2006/relationships/image" Target="../media/image290.svg"/><Relationship Id="rId30" Type="http://schemas.openxmlformats.org/officeDocument/2006/relationships/image" Target="../media/image293.svg"/><Relationship Id="rId8" Type="http://schemas.openxmlformats.org/officeDocument/2006/relationships/image" Target="../media/image27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13" Type="http://schemas.openxmlformats.org/officeDocument/2006/relationships/image" Target="../media/image299.svg"/><Relationship Id="rId18" Type="http://schemas.openxmlformats.org/officeDocument/2006/relationships/image" Target="../media/image112.png"/><Relationship Id="rId3" Type="http://schemas.openxmlformats.org/officeDocument/2006/relationships/image" Target="../media/image2.svg"/><Relationship Id="rId21" Type="http://schemas.openxmlformats.org/officeDocument/2006/relationships/image" Target="../media/image303.svg"/><Relationship Id="rId7" Type="http://schemas.openxmlformats.org/officeDocument/2006/relationships/image" Target="../media/image6.svg"/><Relationship Id="rId12" Type="http://schemas.openxmlformats.org/officeDocument/2006/relationships/image" Target="../media/image38.png"/><Relationship Id="rId17" Type="http://schemas.openxmlformats.org/officeDocument/2006/relationships/image" Target="../media/image301.svg"/><Relationship Id="rId2" Type="http://schemas.openxmlformats.org/officeDocument/2006/relationships/image" Target="../media/image1.png"/><Relationship Id="rId16" Type="http://schemas.openxmlformats.org/officeDocument/2006/relationships/image" Target="../media/image300.png"/><Relationship Id="rId20" Type="http://schemas.openxmlformats.org/officeDocument/2006/relationships/image" Target="../media/image2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98.svg"/><Relationship Id="rId5" Type="http://schemas.openxmlformats.org/officeDocument/2006/relationships/image" Target="../media/image4.svg"/><Relationship Id="rId15" Type="http://schemas.openxmlformats.org/officeDocument/2006/relationships/image" Target="../media/image24.svg"/><Relationship Id="rId23" Type="http://schemas.openxmlformats.org/officeDocument/2006/relationships/image" Target="../media/image31.svg"/><Relationship Id="rId10" Type="http://schemas.openxmlformats.org/officeDocument/2006/relationships/image" Target="../media/image152.png"/><Relationship Id="rId19" Type="http://schemas.openxmlformats.org/officeDocument/2006/relationships/image" Target="../media/image302.svg"/><Relationship Id="rId4" Type="http://schemas.openxmlformats.org/officeDocument/2006/relationships/image" Target="../media/image3.png"/><Relationship Id="rId9" Type="http://schemas.openxmlformats.org/officeDocument/2006/relationships/image" Target="../media/image297.svg"/><Relationship Id="rId14" Type="http://schemas.openxmlformats.org/officeDocument/2006/relationships/image" Target="../media/image23.png"/><Relationship Id="rId22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13" Type="http://schemas.openxmlformats.org/officeDocument/2006/relationships/image" Target="../media/image88.svg"/><Relationship Id="rId18" Type="http://schemas.openxmlformats.org/officeDocument/2006/relationships/image" Target="../media/image100.png"/><Relationship Id="rId3" Type="http://schemas.openxmlformats.org/officeDocument/2006/relationships/image" Target="../media/image83.svg"/><Relationship Id="rId7" Type="http://schemas.openxmlformats.org/officeDocument/2006/relationships/image" Target="../media/image85.svg"/><Relationship Id="rId12" Type="http://schemas.openxmlformats.org/officeDocument/2006/relationships/image" Target="../media/image23.png"/><Relationship Id="rId17" Type="http://schemas.openxmlformats.org/officeDocument/2006/relationships/image" Target="../media/image311.svg"/><Relationship Id="rId2" Type="http://schemas.openxmlformats.org/officeDocument/2006/relationships/image" Target="../media/image82.png"/><Relationship Id="rId16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307.svg"/><Relationship Id="rId5" Type="http://schemas.openxmlformats.org/officeDocument/2006/relationships/image" Target="../media/image4.svg"/><Relationship Id="rId15" Type="http://schemas.openxmlformats.org/officeDocument/2006/relationships/image" Target="../media/image309.svg"/><Relationship Id="rId10" Type="http://schemas.openxmlformats.org/officeDocument/2006/relationships/image" Target="../media/image306.png"/><Relationship Id="rId19" Type="http://schemas.openxmlformats.org/officeDocument/2006/relationships/image" Target="../media/image101.svg"/><Relationship Id="rId4" Type="http://schemas.openxmlformats.org/officeDocument/2006/relationships/image" Target="../media/image3.png"/><Relationship Id="rId9" Type="http://schemas.openxmlformats.org/officeDocument/2006/relationships/image" Target="../media/image305.svg"/><Relationship Id="rId14" Type="http://schemas.openxmlformats.org/officeDocument/2006/relationships/image" Target="../media/image30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png"/><Relationship Id="rId13" Type="http://schemas.openxmlformats.org/officeDocument/2006/relationships/image" Target="../media/image315.svg"/><Relationship Id="rId18" Type="http://schemas.openxmlformats.org/officeDocument/2006/relationships/image" Target="../media/image318.png"/><Relationship Id="rId3" Type="http://schemas.openxmlformats.org/officeDocument/2006/relationships/image" Target="../media/image83.svg"/><Relationship Id="rId7" Type="http://schemas.openxmlformats.org/officeDocument/2006/relationships/image" Target="../media/image85.svg"/><Relationship Id="rId12" Type="http://schemas.openxmlformats.org/officeDocument/2006/relationships/image" Target="../media/image314.png"/><Relationship Id="rId17" Type="http://schemas.openxmlformats.org/officeDocument/2006/relationships/image" Target="../media/image101.svg"/><Relationship Id="rId2" Type="http://schemas.openxmlformats.org/officeDocument/2006/relationships/image" Target="../media/image82.png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8.svg"/><Relationship Id="rId5" Type="http://schemas.openxmlformats.org/officeDocument/2006/relationships/image" Target="../media/image4.svg"/><Relationship Id="rId15" Type="http://schemas.openxmlformats.org/officeDocument/2006/relationships/image" Target="../media/image317.svg"/><Relationship Id="rId10" Type="http://schemas.openxmlformats.org/officeDocument/2006/relationships/image" Target="../media/image23.png"/><Relationship Id="rId19" Type="http://schemas.openxmlformats.org/officeDocument/2006/relationships/image" Target="../media/image319.svg"/><Relationship Id="rId4" Type="http://schemas.openxmlformats.org/officeDocument/2006/relationships/image" Target="../media/image3.png"/><Relationship Id="rId9" Type="http://schemas.openxmlformats.org/officeDocument/2006/relationships/image" Target="../media/image313.svg"/><Relationship Id="rId14" Type="http://schemas.openxmlformats.org/officeDocument/2006/relationships/image" Target="../media/image316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4.svg"/><Relationship Id="rId18" Type="http://schemas.openxmlformats.org/officeDocument/2006/relationships/image" Target="../media/image329.svg"/><Relationship Id="rId26" Type="http://schemas.openxmlformats.org/officeDocument/2006/relationships/image" Target="../media/image335.svg"/><Relationship Id="rId3" Type="http://schemas.openxmlformats.org/officeDocument/2006/relationships/image" Target="../media/image2.svg"/><Relationship Id="rId21" Type="http://schemas.openxmlformats.org/officeDocument/2006/relationships/image" Target="../media/image24.svg"/><Relationship Id="rId7" Type="http://schemas.openxmlformats.org/officeDocument/2006/relationships/image" Target="../media/image6.svg"/><Relationship Id="rId12" Type="http://schemas.openxmlformats.org/officeDocument/2006/relationships/image" Target="../media/image323.png"/><Relationship Id="rId17" Type="http://schemas.openxmlformats.org/officeDocument/2006/relationships/image" Target="../media/image328.svg"/><Relationship Id="rId25" Type="http://schemas.openxmlformats.org/officeDocument/2006/relationships/image" Target="../media/image334.svg"/><Relationship Id="rId33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327.png"/><Relationship Id="rId20" Type="http://schemas.openxmlformats.org/officeDocument/2006/relationships/image" Target="../media/image23.png"/><Relationship Id="rId29" Type="http://schemas.openxmlformats.org/officeDocument/2006/relationships/image" Target="../media/image3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22.svg"/><Relationship Id="rId24" Type="http://schemas.openxmlformats.org/officeDocument/2006/relationships/image" Target="../media/image333.png"/><Relationship Id="rId32" Type="http://schemas.openxmlformats.org/officeDocument/2006/relationships/image" Target="../media/image30.png"/><Relationship Id="rId5" Type="http://schemas.openxmlformats.org/officeDocument/2006/relationships/image" Target="../media/image4.svg"/><Relationship Id="rId15" Type="http://schemas.openxmlformats.org/officeDocument/2006/relationships/image" Target="../media/image326.svg"/><Relationship Id="rId23" Type="http://schemas.openxmlformats.org/officeDocument/2006/relationships/image" Target="../media/image332.svg"/><Relationship Id="rId28" Type="http://schemas.openxmlformats.org/officeDocument/2006/relationships/image" Target="../media/image337.png"/><Relationship Id="rId10" Type="http://schemas.openxmlformats.org/officeDocument/2006/relationships/image" Target="../media/image296.png"/><Relationship Id="rId19" Type="http://schemas.openxmlformats.org/officeDocument/2006/relationships/image" Target="../media/image330.svg"/><Relationship Id="rId31" Type="http://schemas.openxmlformats.org/officeDocument/2006/relationships/image" Target="../media/image340.svg"/><Relationship Id="rId4" Type="http://schemas.openxmlformats.org/officeDocument/2006/relationships/image" Target="../media/image3.png"/><Relationship Id="rId9" Type="http://schemas.openxmlformats.org/officeDocument/2006/relationships/image" Target="../media/image321.svg"/><Relationship Id="rId14" Type="http://schemas.openxmlformats.org/officeDocument/2006/relationships/image" Target="../media/image325.svg"/><Relationship Id="rId22" Type="http://schemas.openxmlformats.org/officeDocument/2006/relationships/image" Target="../media/image331.png"/><Relationship Id="rId27" Type="http://schemas.openxmlformats.org/officeDocument/2006/relationships/image" Target="../media/image336.svg"/><Relationship Id="rId30" Type="http://schemas.openxmlformats.org/officeDocument/2006/relationships/image" Target="../media/image339.png"/><Relationship Id="rId8" Type="http://schemas.openxmlformats.org/officeDocument/2006/relationships/image" Target="../media/image3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13" Type="http://schemas.openxmlformats.org/officeDocument/2006/relationships/image" Target="../media/image346.svg"/><Relationship Id="rId18" Type="http://schemas.openxmlformats.org/officeDocument/2006/relationships/image" Target="../media/image100.png"/><Relationship Id="rId3" Type="http://schemas.openxmlformats.org/officeDocument/2006/relationships/image" Target="../media/image83.svg"/><Relationship Id="rId21" Type="http://schemas.openxmlformats.org/officeDocument/2006/relationships/image" Target="../media/image350.png"/><Relationship Id="rId7" Type="http://schemas.openxmlformats.org/officeDocument/2006/relationships/image" Target="../media/image85.svg"/><Relationship Id="rId12" Type="http://schemas.openxmlformats.org/officeDocument/2006/relationships/image" Target="../media/image345.png"/><Relationship Id="rId17" Type="http://schemas.openxmlformats.org/officeDocument/2006/relationships/image" Target="../media/image348.svg"/><Relationship Id="rId2" Type="http://schemas.openxmlformats.org/officeDocument/2006/relationships/image" Target="../media/image82.png"/><Relationship Id="rId16" Type="http://schemas.openxmlformats.org/officeDocument/2006/relationships/image" Target="../media/image347.png"/><Relationship Id="rId20" Type="http://schemas.openxmlformats.org/officeDocument/2006/relationships/image" Target="../media/image34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344.svg"/><Relationship Id="rId5" Type="http://schemas.openxmlformats.org/officeDocument/2006/relationships/image" Target="../media/image4.svg"/><Relationship Id="rId15" Type="http://schemas.openxmlformats.org/officeDocument/2006/relationships/image" Target="../media/image88.svg"/><Relationship Id="rId10" Type="http://schemas.openxmlformats.org/officeDocument/2006/relationships/image" Target="../media/image343.png"/><Relationship Id="rId19" Type="http://schemas.openxmlformats.org/officeDocument/2006/relationships/image" Target="../media/image101.svg"/><Relationship Id="rId4" Type="http://schemas.openxmlformats.org/officeDocument/2006/relationships/image" Target="../media/image3.png"/><Relationship Id="rId9" Type="http://schemas.openxmlformats.org/officeDocument/2006/relationships/image" Target="../media/image342.svg"/><Relationship Id="rId14" Type="http://schemas.openxmlformats.org/officeDocument/2006/relationships/image" Target="../media/image23.png"/><Relationship Id="rId22" Type="http://schemas.openxmlformats.org/officeDocument/2006/relationships/image" Target="../media/image351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png"/><Relationship Id="rId13" Type="http://schemas.openxmlformats.org/officeDocument/2006/relationships/image" Target="../media/image355.svg"/><Relationship Id="rId18" Type="http://schemas.openxmlformats.org/officeDocument/2006/relationships/image" Target="../media/image101.svg"/><Relationship Id="rId3" Type="http://schemas.openxmlformats.org/officeDocument/2006/relationships/image" Target="../media/image83.svg"/><Relationship Id="rId7" Type="http://schemas.openxmlformats.org/officeDocument/2006/relationships/image" Target="../media/image85.svg"/><Relationship Id="rId12" Type="http://schemas.openxmlformats.org/officeDocument/2006/relationships/image" Target="../media/image354.png"/><Relationship Id="rId17" Type="http://schemas.openxmlformats.org/officeDocument/2006/relationships/image" Target="../media/image100.png"/><Relationship Id="rId2" Type="http://schemas.openxmlformats.org/officeDocument/2006/relationships/image" Target="../media/image82.png"/><Relationship Id="rId16" Type="http://schemas.openxmlformats.org/officeDocument/2006/relationships/image" Target="../media/image35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8.svg"/><Relationship Id="rId5" Type="http://schemas.openxmlformats.org/officeDocument/2006/relationships/image" Target="../media/image4.svg"/><Relationship Id="rId15" Type="http://schemas.openxmlformats.org/officeDocument/2006/relationships/image" Target="../media/image357.sv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353.svg"/><Relationship Id="rId14" Type="http://schemas.openxmlformats.org/officeDocument/2006/relationships/image" Target="../media/image3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8680" y="1600200"/>
            <a:ext cx="1828800" cy="201168"/>
          </a:xfrm>
          <a:custGeom>
            <a:avLst/>
            <a:gdLst/>
            <a:ahLst/>
            <a:cxnLst/>
            <a:rect l="l" t="t" r="r" b="b"/>
            <a:pathLst>
              <a:path w="1828800" h="201168">
                <a:moveTo>
                  <a:pt x="0" y="0"/>
                </a:moveTo>
                <a:lnTo>
                  <a:pt x="1828800" y="0"/>
                </a:lnTo>
                <a:lnTo>
                  <a:pt x="1828800" y="201168"/>
                </a:lnTo>
                <a:lnTo>
                  <a:pt x="0" y="201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8017" y="1929889"/>
            <a:ext cx="2550157" cy="767077"/>
          </a:xfrm>
          <a:custGeom>
            <a:avLst/>
            <a:gdLst/>
            <a:ahLst/>
            <a:cxnLst/>
            <a:rect l="l" t="t" r="r" b="b"/>
            <a:pathLst>
              <a:path w="2550157" h="767077">
                <a:moveTo>
                  <a:pt x="0" y="0"/>
                </a:moveTo>
                <a:lnTo>
                  <a:pt x="2550157" y="0"/>
                </a:lnTo>
                <a:lnTo>
                  <a:pt x="2550157" y="767077"/>
                </a:lnTo>
                <a:lnTo>
                  <a:pt x="0" y="767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91840" y="2057400"/>
            <a:ext cx="1874520" cy="502920"/>
          </a:xfrm>
          <a:custGeom>
            <a:avLst/>
            <a:gdLst/>
            <a:ahLst/>
            <a:cxnLst/>
            <a:rect l="l" t="t" r="r" b="b"/>
            <a:pathLst>
              <a:path w="1874520" h="502920">
                <a:moveTo>
                  <a:pt x="0" y="0"/>
                </a:moveTo>
                <a:lnTo>
                  <a:pt x="1874520" y="0"/>
                </a:lnTo>
                <a:lnTo>
                  <a:pt x="187452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91840" y="2761488"/>
            <a:ext cx="1874520" cy="292608"/>
          </a:xfrm>
          <a:custGeom>
            <a:avLst/>
            <a:gdLst/>
            <a:ahLst/>
            <a:cxnLst/>
            <a:rect l="l" t="t" r="r" b="b"/>
            <a:pathLst>
              <a:path w="1874520" h="292608">
                <a:moveTo>
                  <a:pt x="0" y="0"/>
                </a:moveTo>
                <a:lnTo>
                  <a:pt x="1874520" y="0"/>
                </a:lnTo>
                <a:lnTo>
                  <a:pt x="1874520" y="292608"/>
                </a:lnTo>
                <a:lnTo>
                  <a:pt x="0" y="292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37560" y="1600200"/>
            <a:ext cx="1828800" cy="201168"/>
          </a:xfrm>
          <a:custGeom>
            <a:avLst/>
            <a:gdLst/>
            <a:ahLst/>
            <a:cxnLst/>
            <a:rect l="l" t="t" r="r" b="b"/>
            <a:pathLst>
              <a:path w="1828800" h="201168">
                <a:moveTo>
                  <a:pt x="0" y="0"/>
                </a:moveTo>
                <a:lnTo>
                  <a:pt x="1828800" y="0"/>
                </a:lnTo>
                <a:lnTo>
                  <a:pt x="1828800" y="201168"/>
                </a:lnTo>
                <a:lnTo>
                  <a:pt x="0" y="201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349240" y="233172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60" h="274320">
                <a:moveTo>
                  <a:pt x="0" y="0"/>
                </a:moveTo>
                <a:lnTo>
                  <a:pt x="365760" y="0"/>
                </a:lnTo>
                <a:lnTo>
                  <a:pt x="36576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852160" y="2167128"/>
            <a:ext cx="1874520" cy="274320"/>
          </a:xfrm>
          <a:custGeom>
            <a:avLst/>
            <a:gdLst/>
            <a:ahLst/>
            <a:cxnLst/>
            <a:rect l="l" t="t" r="r" b="b"/>
            <a:pathLst>
              <a:path w="1874520" h="274320">
                <a:moveTo>
                  <a:pt x="0" y="0"/>
                </a:moveTo>
                <a:lnTo>
                  <a:pt x="1874520" y="0"/>
                </a:lnTo>
                <a:lnTo>
                  <a:pt x="187452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852160" y="2578608"/>
            <a:ext cx="1874520" cy="292608"/>
          </a:xfrm>
          <a:custGeom>
            <a:avLst/>
            <a:gdLst/>
            <a:ahLst/>
            <a:cxnLst/>
            <a:rect l="l" t="t" r="r" b="b"/>
            <a:pathLst>
              <a:path w="1874520" h="292608">
                <a:moveTo>
                  <a:pt x="0" y="0"/>
                </a:moveTo>
                <a:lnTo>
                  <a:pt x="1874520" y="0"/>
                </a:lnTo>
                <a:lnTo>
                  <a:pt x="1874520" y="292608"/>
                </a:lnTo>
                <a:lnTo>
                  <a:pt x="0" y="292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897880" y="1600200"/>
            <a:ext cx="1828800" cy="201168"/>
          </a:xfrm>
          <a:custGeom>
            <a:avLst/>
            <a:gdLst/>
            <a:ahLst/>
            <a:cxnLst/>
            <a:rect l="l" t="t" r="r" b="b"/>
            <a:pathLst>
              <a:path w="1828800" h="201168">
                <a:moveTo>
                  <a:pt x="0" y="0"/>
                </a:moveTo>
                <a:lnTo>
                  <a:pt x="1828800" y="0"/>
                </a:lnTo>
                <a:lnTo>
                  <a:pt x="1828800" y="201168"/>
                </a:lnTo>
                <a:lnTo>
                  <a:pt x="0" y="201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909560" y="2331720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60" h="274320">
                <a:moveTo>
                  <a:pt x="0" y="0"/>
                </a:moveTo>
                <a:lnTo>
                  <a:pt x="365760" y="0"/>
                </a:lnTo>
                <a:lnTo>
                  <a:pt x="36576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011680" y="4343400"/>
            <a:ext cx="8229600" cy="274320"/>
          </a:xfrm>
          <a:custGeom>
            <a:avLst/>
            <a:gdLst/>
            <a:ahLst/>
            <a:cxnLst/>
            <a:rect l="l" t="t" r="r" b="b"/>
            <a:pathLst>
              <a:path w="8229600" h="274320">
                <a:moveTo>
                  <a:pt x="0" y="0"/>
                </a:moveTo>
                <a:lnTo>
                  <a:pt x="8229600" y="0"/>
                </a:lnTo>
                <a:lnTo>
                  <a:pt x="822960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440417" y="2057905"/>
            <a:ext cx="2001517" cy="721357"/>
          </a:xfrm>
          <a:custGeom>
            <a:avLst/>
            <a:gdLst/>
            <a:ahLst/>
            <a:cxnLst/>
            <a:rect l="l" t="t" r="r" b="b"/>
            <a:pathLst>
              <a:path w="2001517" h="721357">
                <a:moveTo>
                  <a:pt x="0" y="0"/>
                </a:moveTo>
                <a:lnTo>
                  <a:pt x="2001517" y="0"/>
                </a:lnTo>
                <a:lnTo>
                  <a:pt x="2001517" y="721357"/>
                </a:lnTo>
                <a:lnTo>
                  <a:pt x="0" y="72135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549640" y="1600200"/>
            <a:ext cx="1828800" cy="201168"/>
          </a:xfrm>
          <a:custGeom>
            <a:avLst/>
            <a:gdLst/>
            <a:ahLst/>
            <a:cxnLst/>
            <a:rect l="l" t="t" r="r" b="b"/>
            <a:pathLst>
              <a:path w="1828800" h="201168">
                <a:moveTo>
                  <a:pt x="0" y="0"/>
                </a:moveTo>
                <a:lnTo>
                  <a:pt x="1828800" y="0"/>
                </a:lnTo>
                <a:lnTo>
                  <a:pt x="1828800" y="201168"/>
                </a:lnTo>
                <a:lnTo>
                  <a:pt x="0" y="2011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12064" y="109442"/>
            <a:ext cx="5530634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How Can a Model Classify Text?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2818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0352" y="528599"/>
            <a:ext cx="632465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contains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useful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signals,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but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ML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need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numerical</a:t>
            </a:r>
            <a:r>
              <a:rPr lang="en-US" sz="1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features.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06055" y="4323359"/>
            <a:ext cx="615802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Words like "won", "free", and "prize" can help classify the message.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36395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9613" y="1585960"/>
            <a:ext cx="782193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666666"/>
                </a:solidFill>
                <a:latin typeface="Arial Bold"/>
                <a:ea typeface="Arial Bold"/>
                <a:cs typeface="Arial Bold"/>
                <a:sym typeface="Arial Bold"/>
              </a:rPr>
              <a:t>Raw Text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501371" y="1585960"/>
            <a:ext cx="1531010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666666"/>
                </a:solidFill>
                <a:latin typeface="Arial Bold"/>
                <a:ea typeface="Arial Bold"/>
                <a:cs typeface="Arial Bold"/>
                <a:sym typeface="Arial Bold"/>
              </a:rPr>
              <a:t>Numeric Features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12240" y="1585960"/>
            <a:ext cx="815921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666666"/>
                </a:solidFill>
                <a:latin typeface="Arial Bold"/>
                <a:ea typeface="Arial Bold"/>
                <a:cs typeface="Arial Bold"/>
                <a:sym typeface="Arial Bold"/>
              </a:rPr>
              <a:t>Classifier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29595" y="1585960"/>
            <a:ext cx="885739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A01414"/>
                </a:solidFill>
                <a:latin typeface="Arial Bold"/>
                <a:ea typeface="Arial Bold"/>
                <a:cs typeface="Arial Bold"/>
                <a:sym typeface="Arial Bold"/>
              </a:rPr>
              <a:t>Prediction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5751" y="2012490"/>
            <a:ext cx="1997821" cy="74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1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"Congratulations! You won a free prize now!"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41316" y="2081270"/>
            <a:ext cx="1606086" cy="106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[0, 1, 1, 0,</a:t>
            </a:r>
          </a:p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 1, ...]</a:t>
            </a:r>
          </a:p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Textmust beconverted into numbers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720665" y="2744076"/>
            <a:ext cx="43063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967813" y="2580246"/>
            <a:ext cx="1675267" cy="381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Uses numerical features to predict a class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44851" y="2331787"/>
            <a:ext cx="259080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A0ACB9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405171" y="2331787"/>
            <a:ext cx="259080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A0ACB9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17834" y="2167195"/>
            <a:ext cx="1165603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Classifier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65491" y="2331787"/>
            <a:ext cx="259080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A0ACB9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60818" y="2116722"/>
            <a:ext cx="775449" cy="38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A01414"/>
                </a:solidFill>
                <a:latin typeface="Arial Bold"/>
                <a:ea typeface="Arial Bold"/>
                <a:cs typeface="Arial Bold"/>
                <a:sym typeface="Arial Bold"/>
              </a:rPr>
              <a:t>Spam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75949" y="2505113"/>
            <a:ext cx="43063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A01414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882072" y="2505113"/>
            <a:ext cx="113959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>
                <a:solidFill>
                  <a:srgbClr val="A01414"/>
                </a:solidFill>
                <a:latin typeface="Arial Bold"/>
                <a:ea typeface="Arial Bold"/>
                <a:cs typeface="Arial Bold"/>
                <a:sym typeface="Arial Bold"/>
              </a:rPr>
              <a:t>Predicted</a:t>
            </a:r>
            <a:r>
              <a:rPr lang="en-US" sz="12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200" b="1">
                <a:solidFill>
                  <a:srgbClr val="A01414"/>
                </a:solidFill>
                <a:latin typeface="Arial Bold"/>
                <a:ea typeface="Arial Bold"/>
                <a:cs typeface="Arial Bold"/>
                <a:sym typeface="Arial Bold"/>
              </a:rPr>
              <a:t>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8680" y="3977640"/>
            <a:ext cx="4480560" cy="256032"/>
          </a:xfrm>
          <a:custGeom>
            <a:avLst/>
            <a:gdLst/>
            <a:ahLst/>
            <a:cxnLst/>
            <a:rect l="l" t="t" r="r" b="b"/>
            <a:pathLst>
              <a:path w="4480560" h="256032">
                <a:moveTo>
                  <a:pt x="0" y="0"/>
                </a:moveTo>
                <a:lnTo>
                  <a:pt x="4480560" y="0"/>
                </a:lnTo>
                <a:lnTo>
                  <a:pt x="448056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98833" y="3176273"/>
            <a:ext cx="3751583" cy="651767"/>
          </a:xfrm>
          <a:custGeom>
            <a:avLst/>
            <a:gdLst/>
            <a:ahLst/>
            <a:cxnLst/>
            <a:rect l="l" t="t" r="r" b="b"/>
            <a:pathLst>
              <a:path w="3751583" h="651767">
                <a:moveTo>
                  <a:pt x="0" y="0"/>
                </a:moveTo>
                <a:lnTo>
                  <a:pt x="3751583" y="0"/>
                </a:lnTo>
                <a:lnTo>
                  <a:pt x="3751583" y="651767"/>
                </a:lnTo>
                <a:lnTo>
                  <a:pt x="0" y="6517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98833" y="2536193"/>
            <a:ext cx="2937767" cy="523751"/>
          </a:xfrm>
          <a:custGeom>
            <a:avLst/>
            <a:gdLst/>
            <a:ahLst/>
            <a:cxnLst/>
            <a:rect l="l" t="t" r="r" b="b"/>
            <a:pathLst>
              <a:path w="2937767" h="523751">
                <a:moveTo>
                  <a:pt x="0" y="0"/>
                </a:moveTo>
                <a:lnTo>
                  <a:pt x="2937767" y="0"/>
                </a:lnTo>
                <a:lnTo>
                  <a:pt x="2937767" y="523751"/>
                </a:lnTo>
                <a:lnTo>
                  <a:pt x="0" y="5237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086600" y="4709160"/>
            <a:ext cx="3657600" cy="228600"/>
          </a:xfrm>
          <a:custGeom>
            <a:avLst/>
            <a:gdLst/>
            <a:ahLst/>
            <a:cxnLst/>
            <a:rect l="l" t="t" r="r" b="b"/>
            <a:pathLst>
              <a:path w="3657600" h="228600">
                <a:moveTo>
                  <a:pt x="0" y="0"/>
                </a:moveTo>
                <a:lnTo>
                  <a:pt x="3657600" y="0"/>
                </a:lnTo>
                <a:lnTo>
                  <a:pt x="3657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05177" y="1765297"/>
            <a:ext cx="7565841" cy="2289743"/>
          </a:xfrm>
          <a:custGeom>
            <a:avLst/>
            <a:gdLst/>
            <a:ahLst/>
            <a:cxnLst/>
            <a:rect l="l" t="t" r="r" b="b"/>
            <a:pathLst>
              <a:path w="7565841" h="2289743">
                <a:moveTo>
                  <a:pt x="0" y="0"/>
                </a:moveTo>
                <a:lnTo>
                  <a:pt x="7565841" y="0"/>
                </a:lnTo>
                <a:lnTo>
                  <a:pt x="7565841" y="2289743"/>
                </a:lnTo>
                <a:lnTo>
                  <a:pt x="0" y="22897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12064" y="109442"/>
            <a:ext cx="2939777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Basic Probability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8480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8680" y="2192807"/>
            <a:ext cx="194620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 100 people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0352" y="528599"/>
            <a:ext cx="440975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Probabilitymeasureshowoftenan event occurs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8680" y="3957599"/>
            <a:ext cx="449017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denominator is the full group: all 100 people.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36395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8670" y="1814570"/>
            <a:ext cx="5054241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P(A) = outcomes in the event / total outcomes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47000" y="2666676"/>
            <a:ext cx="691020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 dirty="0">
                <a:solidFill>
                  <a:srgbClr val="D24646"/>
                </a:solidFill>
                <a:latin typeface="Arial Bold"/>
                <a:ea typeface="Arial Bold"/>
                <a:cs typeface="Arial Bold"/>
                <a:sym typeface="Arial Bold"/>
              </a:rPr>
              <a:t>40 sick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28475" y="2666676"/>
            <a:ext cx="107031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666666"/>
                </a:solidFill>
                <a:latin typeface="Arial Bold"/>
                <a:ea typeface="Arial Bold"/>
                <a:cs typeface="Arial Bold"/>
                <a:sym typeface="Arial Bold"/>
              </a:rPr>
              <a:t>60 not sick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8966" y="3349819"/>
            <a:ext cx="2906097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P(Sick) = 40 / 100 = 0.40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6600" y="4694920"/>
            <a:ext cx="1273664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D24646"/>
                </a:solidFill>
                <a:latin typeface="Arial Bold"/>
                <a:ea typeface="Arial Bold"/>
                <a:cs typeface="Arial Bold"/>
                <a:sym typeface="Arial Bold"/>
              </a:rPr>
              <a:t>red dots = sick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81571" y="4694920"/>
            <a:ext cx="1706375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666666"/>
                </a:solidFill>
                <a:latin typeface="Arial Bold"/>
                <a:ea typeface="Arial Bold"/>
                <a:cs typeface="Arial Bold"/>
                <a:sym typeface="Arial Bold"/>
              </a:rPr>
              <a:t>gray dots = not sick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8680" y="1783080"/>
            <a:ext cx="5120697" cy="274196"/>
          </a:xfrm>
          <a:custGeom>
            <a:avLst/>
            <a:gdLst/>
            <a:ahLst/>
            <a:cxnLst/>
            <a:rect l="l" t="t" r="r" b="b"/>
            <a:pathLst>
              <a:path w="5120697" h="274196">
                <a:moveTo>
                  <a:pt x="0" y="0"/>
                </a:moveTo>
                <a:lnTo>
                  <a:pt x="5120697" y="0"/>
                </a:lnTo>
                <a:lnTo>
                  <a:pt x="5120697" y="274196"/>
                </a:lnTo>
                <a:lnTo>
                  <a:pt x="0" y="2741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8680" y="1417320"/>
            <a:ext cx="5029200" cy="228600"/>
          </a:xfrm>
          <a:custGeom>
            <a:avLst/>
            <a:gdLst/>
            <a:ahLst/>
            <a:cxnLst/>
            <a:rect l="l" t="t" r="r" b="b"/>
            <a:pathLst>
              <a:path w="5029200" h="228600">
                <a:moveTo>
                  <a:pt x="0" y="0"/>
                </a:moveTo>
                <a:lnTo>
                  <a:pt x="5029200" y="0"/>
                </a:lnTo>
                <a:lnTo>
                  <a:pt x="50292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98833" y="2143001"/>
            <a:ext cx="5031743" cy="651767"/>
          </a:xfrm>
          <a:custGeom>
            <a:avLst/>
            <a:gdLst/>
            <a:ahLst/>
            <a:cxnLst/>
            <a:rect l="l" t="t" r="r" b="b"/>
            <a:pathLst>
              <a:path w="5031743" h="651767">
                <a:moveTo>
                  <a:pt x="0" y="0"/>
                </a:moveTo>
                <a:lnTo>
                  <a:pt x="5031743" y="0"/>
                </a:lnTo>
                <a:lnTo>
                  <a:pt x="5031743" y="651767"/>
                </a:lnTo>
                <a:lnTo>
                  <a:pt x="0" y="6517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8680" y="4892040"/>
            <a:ext cx="3657600" cy="182880"/>
          </a:xfrm>
          <a:custGeom>
            <a:avLst/>
            <a:gdLst/>
            <a:ahLst/>
            <a:cxnLst/>
            <a:rect l="l" t="t" r="r" b="b"/>
            <a:pathLst>
              <a:path w="3657600" h="182880">
                <a:moveTo>
                  <a:pt x="0" y="0"/>
                </a:moveTo>
                <a:lnTo>
                  <a:pt x="3657600" y="0"/>
                </a:lnTo>
                <a:lnTo>
                  <a:pt x="36576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05177" y="2954017"/>
            <a:ext cx="5247637" cy="1343149"/>
          </a:xfrm>
          <a:custGeom>
            <a:avLst/>
            <a:gdLst/>
            <a:ahLst/>
            <a:cxnLst/>
            <a:rect l="l" t="t" r="r" b="b"/>
            <a:pathLst>
              <a:path w="5247637" h="1343149">
                <a:moveTo>
                  <a:pt x="0" y="0"/>
                </a:moveTo>
                <a:lnTo>
                  <a:pt x="5247637" y="0"/>
                </a:lnTo>
                <a:lnTo>
                  <a:pt x="5247637" y="1343149"/>
                </a:lnTo>
                <a:lnTo>
                  <a:pt x="0" y="13431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29400" y="4983480"/>
            <a:ext cx="3383280" cy="201168"/>
          </a:xfrm>
          <a:custGeom>
            <a:avLst/>
            <a:gdLst/>
            <a:ahLst/>
            <a:cxnLst/>
            <a:rect l="l" t="t" r="r" b="b"/>
            <a:pathLst>
              <a:path w="3383280" h="201168">
                <a:moveTo>
                  <a:pt x="0" y="0"/>
                </a:moveTo>
                <a:lnTo>
                  <a:pt x="3383280" y="0"/>
                </a:lnTo>
                <a:lnTo>
                  <a:pt x="3383280" y="201168"/>
                </a:lnTo>
                <a:lnTo>
                  <a:pt x="0" y="20116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629400" y="4434840"/>
            <a:ext cx="2011680" cy="201168"/>
          </a:xfrm>
          <a:custGeom>
            <a:avLst/>
            <a:gdLst/>
            <a:ahLst/>
            <a:cxnLst/>
            <a:rect l="l" t="t" r="r" b="b"/>
            <a:pathLst>
              <a:path w="2011680" h="201168">
                <a:moveTo>
                  <a:pt x="0" y="0"/>
                </a:moveTo>
                <a:lnTo>
                  <a:pt x="2011680" y="0"/>
                </a:lnTo>
                <a:lnTo>
                  <a:pt x="2011680" y="201168"/>
                </a:lnTo>
                <a:lnTo>
                  <a:pt x="0" y="20116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114288" y="1692145"/>
            <a:ext cx="2681735" cy="2553719"/>
          </a:xfrm>
          <a:custGeom>
            <a:avLst/>
            <a:gdLst/>
            <a:ahLst/>
            <a:cxnLst/>
            <a:rect l="l" t="t" r="r" b="b"/>
            <a:pathLst>
              <a:path w="2681735" h="2553719">
                <a:moveTo>
                  <a:pt x="0" y="0"/>
                </a:moveTo>
                <a:lnTo>
                  <a:pt x="2681735" y="0"/>
                </a:lnTo>
                <a:lnTo>
                  <a:pt x="2681735" y="2553719"/>
                </a:lnTo>
                <a:lnTo>
                  <a:pt x="0" y="255371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12064" y="109442"/>
            <a:ext cx="3964438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Conditional Probability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6755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8680" y="1397279"/>
            <a:ext cx="207202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Given: the person is a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8680" y="3739286"/>
            <a:ext cx="4592345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P(Sick | Smoker) = P(Sick ∩ Smoker) / P(Smoker) = (30 / 100) / (50 / 100) = 30 / 50 = 0.60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0352" y="528599"/>
            <a:ext cx="5492706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Newinformationchangesthegroupwearereasoning about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36395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01277" y="1407843"/>
            <a:ext cx="73703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smoker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680" y="3003290"/>
            <a:ext cx="178656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General formula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75965" y="3337627"/>
            <a:ext cx="71761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8680" y="1768850"/>
            <a:ext cx="427194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Now we only consider the 50 smokers.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89022" y="1741418"/>
            <a:ext cx="1282675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rPr>
              <a:t>50 smokers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8680" y="3337627"/>
            <a:ext cx="3007662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P(A | B)=P(A∩B) / P(B)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7878" y="2316547"/>
            <a:ext cx="3927653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P(Sick | Smoker) = 30 / 50 = 0.60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8680" y="4868551"/>
            <a:ext cx="1245918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| means “given”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36416" y="4868551"/>
            <a:ext cx="1701660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∩ means “and / both”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52879" y="4959991"/>
            <a:ext cx="2791254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same 100 people as previous slide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8602" y="4420600"/>
            <a:ext cx="1400613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D24646"/>
                </a:solidFill>
                <a:latin typeface="Arial Bold"/>
                <a:ea typeface="Arial Bold"/>
                <a:cs typeface="Arial Bold"/>
                <a:sym typeface="Arial Bold"/>
              </a:rPr>
              <a:t>30 sick smokers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926080" y="1874520"/>
            <a:ext cx="6400800" cy="457200"/>
          </a:xfrm>
          <a:custGeom>
            <a:avLst/>
            <a:gdLst/>
            <a:ahLst/>
            <a:cxnLst/>
            <a:rect l="l" t="t" r="r" b="b"/>
            <a:pathLst>
              <a:path w="6400800" h="457200">
                <a:moveTo>
                  <a:pt x="0" y="0"/>
                </a:moveTo>
                <a:lnTo>
                  <a:pt x="6400800" y="0"/>
                </a:lnTo>
                <a:lnTo>
                  <a:pt x="64008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23360" y="1508760"/>
            <a:ext cx="4206240" cy="228600"/>
          </a:xfrm>
          <a:custGeom>
            <a:avLst/>
            <a:gdLst/>
            <a:ahLst/>
            <a:cxnLst/>
            <a:rect l="l" t="t" r="r" b="b"/>
            <a:pathLst>
              <a:path w="4206240" h="228600">
                <a:moveTo>
                  <a:pt x="0" y="0"/>
                </a:moveTo>
                <a:lnTo>
                  <a:pt x="4206240" y="0"/>
                </a:lnTo>
                <a:lnTo>
                  <a:pt x="420624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862577" y="3548377"/>
            <a:ext cx="6527797" cy="657349"/>
          </a:xfrm>
          <a:custGeom>
            <a:avLst/>
            <a:gdLst/>
            <a:ahLst/>
            <a:cxnLst/>
            <a:rect l="l" t="t" r="r" b="b"/>
            <a:pathLst>
              <a:path w="6527797" h="657349">
                <a:moveTo>
                  <a:pt x="0" y="0"/>
                </a:moveTo>
                <a:lnTo>
                  <a:pt x="6527797" y="0"/>
                </a:lnTo>
                <a:lnTo>
                  <a:pt x="6527797" y="657349"/>
                </a:lnTo>
                <a:lnTo>
                  <a:pt x="0" y="6573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862577" y="4508497"/>
            <a:ext cx="6527797" cy="757933"/>
          </a:xfrm>
          <a:custGeom>
            <a:avLst/>
            <a:gdLst/>
            <a:ahLst/>
            <a:cxnLst/>
            <a:rect l="l" t="t" r="r" b="b"/>
            <a:pathLst>
              <a:path w="6527797" h="757933">
                <a:moveTo>
                  <a:pt x="0" y="0"/>
                </a:moveTo>
                <a:lnTo>
                  <a:pt x="6527797" y="0"/>
                </a:lnTo>
                <a:lnTo>
                  <a:pt x="6527797" y="757933"/>
                </a:lnTo>
                <a:lnTo>
                  <a:pt x="0" y="75793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862577" y="2542537"/>
            <a:ext cx="6527797" cy="858517"/>
          </a:xfrm>
          <a:custGeom>
            <a:avLst/>
            <a:gdLst/>
            <a:ahLst/>
            <a:cxnLst/>
            <a:rect l="l" t="t" r="r" b="b"/>
            <a:pathLst>
              <a:path w="6527797" h="858517">
                <a:moveTo>
                  <a:pt x="0" y="0"/>
                </a:moveTo>
                <a:lnTo>
                  <a:pt x="6527797" y="0"/>
                </a:lnTo>
                <a:lnTo>
                  <a:pt x="6527797" y="858517"/>
                </a:lnTo>
                <a:lnTo>
                  <a:pt x="0" y="85851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12064" y="109442"/>
            <a:ext cx="6928161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Bayes’ Theorem Reverses the Condition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80041" y="1883054"/>
            <a:ext cx="2335654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19"/>
              </a:lnSpc>
            </a:pPr>
            <a:r>
              <a:rPr lang="en-US" sz="1599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P(A | B) = P(A ∩ B) / P(B) P(B | A) = P(A ∩ B) / P(A)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48942" y="2888894"/>
            <a:ext cx="2399081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19"/>
              </a:lnSpc>
            </a:pPr>
            <a:r>
              <a:rPr lang="en-US" sz="1599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P(A ∩ B) = P(A | B) × P(B) P(A ∩ B) = P(B | A) × P(A)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36395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23016" y="1494530"/>
            <a:ext cx="367479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Start from conditional probability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90527" y="2582551"/>
            <a:ext cx="906961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Rearrange: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442547" y="4548511"/>
            <a:ext cx="1208380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Divide by P(B):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56404" y="3588391"/>
            <a:ext cx="2980582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Both expressions equal P(A ∩ B), so: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42434" y="3879113"/>
            <a:ext cx="3229061" cy="30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P(A | B) × P(B) = P(B | A) × P(A)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01633" y="4873819"/>
            <a:ext cx="3719608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P(A | B) = P(B | A) × P(A) / P(B)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5177" y="2542537"/>
            <a:ext cx="10185397" cy="1343149"/>
          </a:xfrm>
          <a:custGeom>
            <a:avLst/>
            <a:gdLst/>
            <a:ahLst/>
            <a:cxnLst/>
            <a:rect l="l" t="t" r="r" b="b"/>
            <a:pathLst>
              <a:path w="10185397" h="1343149">
                <a:moveTo>
                  <a:pt x="0" y="0"/>
                </a:moveTo>
                <a:lnTo>
                  <a:pt x="10185397" y="0"/>
                </a:lnTo>
                <a:lnTo>
                  <a:pt x="10185397" y="1343149"/>
                </a:lnTo>
                <a:lnTo>
                  <a:pt x="0" y="13431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8680" y="1993392"/>
            <a:ext cx="9601200" cy="320040"/>
          </a:xfrm>
          <a:custGeom>
            <a:avLst/>
            <a:gdLst/>
            <a:ahLst/>
            <a:cxnLst/>
            <a:rect l="l" t="t" r="r" b="b"/>
            <a:pathLst>
              <a:path w="9601200" h="320040">
                <a:moveTo>
                  <a:pt x="0" y="0"/>
                </a:moveTo>
                <a:lnTo>
                  <a:pt x="9601200" y="0"/>
                </a:lnTo>
                <a:lnTo>
                  <a:pt x="960120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8680" y="5285232"/>
            <a:ext cx="8046720" cy="256032"/>
          </a:xfrm>
          <a:custGeom>
            <a:avLst/>
            <a:gdLst/>
            <a:ahLst/>
            <a:cxnLst/>
            <a:rect l="l" t="t" r="r" b="b"/>
            <a:pathLst>
              <a:path w="8046720" h="256032">
                <a:moveTo>
                  <a:pt x="0" y="0"/>
                </a:moveTo>
                <a:lnTo>
                  <a:pt x="8046720" y="0"/>
                </a:lnTo>
                <a:lnTo>
                  <a:pt x="80467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8680" y="1627632"/>
            <a:ext cx="6217920" cy="228600"/>
          </a:xfrm>
          <a:custGeom>
            <a:avLst/>
            <a:gdLst/>
            <a:ahLst/>
            <a:cxnLst/>
            <a:rect l="l" t="t" r="r" b="b"/>
            <a:pathLst>
              <a:path w="6217920" h="228600">
                <a:moveTo>
                  <a:pt x="0" y="0"/>
                </a:moveTo>
                <a:lnTo>
                  <a:pt x="6217920" y="0"/>
                </a:lnTo>
                <a:lnTo>
                  <a:pt x="621792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8680" y="4736592"/>
            <a:ext cx="5212080" cy="237744"/>
          </a:xfrm>
          <a:custGeom>
            <a:avLst/>
            <a:gdLst/>
            <a:ahLst/>
            <a:cxnLst/>
            <a:rect l="l" t="t" r="r" b="b"/>
            <a:pathLst>
              <a:path w="5212080" h="237744">
                <a:moveTo>
                  <a:pt x="0" y="0"/>
                </a:moveTo>
                <a:lnTo>
                  <a:pt x="5212080" y="0"/>
                </a:lnTo>
                <a:lnTo>
                  <a:pt x="5212080" y="237744"/>
                </a:lnTo>
                <a:lnTo>
                  <a:pt x="0" y="2377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8680" y="1234440"/>
            <a:ext cx="10607040" cy="201168"/>
          </a:xfrm>
          <a:custGeom>
            <a:avLst/>
            <a:gdLst/>
            <a:ahLst/>
            <a:cxnLst/>
            <a:rect l="l" t="t" r="r" b="b"/>
            <a:pathLst>
              <a:path w="10607040" h="201168">
                <a:moveTo>
                  <a:pt x="0" y="0"/>
                </a:moveTo>
                <a:lnTo>
                  <a:pt x="10607040" y="0"/>
                </a:lnTo>
                <a:lnTo>
                  <a:pt x="10607040" y="201168"/>
                </a:lnTo>
                <a:lnTo>
                  <a:pt x="0" y="20116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8680" y="4160520"/>
            <a:ext cx="10515600" cy="402336"/>
          </a:xfrm>
          <a:custGeom>
            <a:avLst/>
            <a:gdLst/>
            <a:ahLst/>
            <a:cxnLst/>
            <a:rect l="l" t="t" r="r" b="b"/>
            <a:pathLst>
              <a:path w="10515600" h="402336">
                <a:moveTo>
                  <a:pt x="0" y="0"/>
                </a:moveTo>
                <a:lnTo>
                  <a:pt x="10515600" y="0"/>
                </a:lnTo>
                <a:lnTo>
                  <a:pt x="10515600" y="402336"/>
                </a:lnTo>
                <a:lnTo>
                  <a:pt x="0" y="40233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12064" y="109442"/>
            <a:ext cx="5659031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Bayes’ Theorem in Classification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8680" y="5265191"/>
            <a:ext cx="692656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But how do we calculate P(features | Class) when there are many features?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8680" y="1138199"/>
            <a:ext cx="7228122" cy="116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 classification: A = the class we want to predict, B = the features we observe </a:t>
            </a:r>
            <a:r>
              <a:rPr lang="en-US" sz="1599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P(A | B) = P(B | A) × P(A) / P(B)</a:t>
            </a:r>
          </a:p>
          <a:p>
            <a:pPr algn="l">
              <a:lnSpc>
                <a:spcPts val="3483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P(Class | features) = P(features | Class) × P(Class) / P(features)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8680" y="4169054"/>
            <a:ext cx="7851162" cy="86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For the same observed features, P(features) is the same denominator for every class. So, to decide which class is larger, compare only:</a:t>
            </a:r>
          </a:p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P(features | Class) × P(Class)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36395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8680" y="2582551"/>
            <a:ext cx="1632147" cy="266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P(Class | features)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8680" y="2911735"/>
            <a:ext cx="1632147" cy="266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P(features | Class)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680" y="3183769"/>
            <a:ext cx="997048" cy="652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P(Class)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P(features)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68823" y="2525401"/>
            <a:ext cx="4351268" cy="643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— After seeing these features, how likely is this class? — How common are these features inside this class?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28994" y="3183769"/>
            <a:ext cx="3958638" cy="64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—Howcommon is this class in the training data? —Howcommon are these features overall?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59"/>
          </a:xfrm>
          <a:custGeom>
            <a:avLst/>
            <a:gdLst/>
            <a:ahLst/>
            <a:cxnLst/>
            <a:rect l="l" t="t" r="r" b="b"/>
            <a:pathLst>
              <a:path w="11820839" h="890759">
                <a:moveTo>
                  <a:pt x="0" y="0"/>
                </a:moveTo>
                <a:lnTo>
                  <a:pt x="11820840" y="0"/>
                </a:lnTo>
                <a:lnTo>
                  <a:pt x="11820840" y="890759"/>
                </a:lnTo>
                <a:lnTo>
                  <a:pt x="0" y="8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22996"/>
          </a:xfrm>
          <a:custGeom>
            <a:avLst/>
            <a:gdLst/>
            <a:ahLst/>
            <a:cxnLst/>
            <a:rect l="l" t="t" r="r" b="b"/>
            <a:pathLst>
              <a:path w="1828800" h="122996">
                <a:moveTo>
                  <a:pt x="0" y="0"/>
                </a:moveTo>
                <a:lnTo>
                  <a:pt x="1828800" y="0"/>
                </a:lnTo>
                <a:lnTo>
                  <a:pt x="1828800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8720" y="1874520"/>
            <a:ext cx="3840604" cy="277197"/>
          </a:xfrm>
          <a:custGeom>
            <a:avLst/>
            <a:gdLst/>
            <a:ahLst/>
            <a:cxnLst/>
            <a:rect l="l" t="t" r="r" b="b"/>
            <a:pathLst>
              <a:path w="3840604" h="277197">
                <a:moveTo>
                  <a:pt x="0" y="0"/>
                </a:moveTo>
                <a:lnTo>
                  <a:pt x="3840604" y="0"/>
                </a:lnTo>
                <a:lnTo>
                  <a:pt x="3840604" y="277197"/>
                </a:lnTo>
                <a:lnTo>
                  <a:pt x="0" y="277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561" y="55369"/>
            <a:ext cx="8603504" cy="803072"/>
          </a:xfrm>
          <a:custGeom>
            <a:avLst/>
            <a:gdLst/>
            <a:ahLst/>
            <a:cxnLst/>
            <a:rect l="l" t="t" r="r" b="b"/>
            <a:pathLst>
              <a:path w="8603504" h="803072">
                <a:moveTo>
                  <a:pt x="0" y="0"/>
                </a:moveTo>
                <a:lnTo>
                  <a:pt x="8603504" y="0"/>
                </a:lnTo>
                <a:lnTo>
                  <a:pt x="8603504" y="803072"/>
                </a:lnTo>
                <a:lnTo>
                  <a:pt x="0" y="803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8680" y="1234440"/>
            <a:ext cx="9601200" cy="246297"/>
          </a:xfrm>
          <a:custGeom>
            <a:avLst/>
            <a:gdLst/>
            <a:ahLst/>
            <a:cxnLst/>
            <a:rect l="l" t="t" r="r" b="b"/>
            <a:pathLst>
              <a:path w="9601200" h="246297">
                <a:moveTo>
                  <a:pt x="0" y="0"/>
                </a:moveTo>
                <a:lnTo>
                  <a:pt x="9601200" y="0"/>
                </a:lnTo>
                <a:lnTo>
                  <a:pt x="9601200" y="246297"/>
                </a:lnTo>
                <a:lnTo>
                  <a:pt x="0" y="2462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14400" y="3696967"/>
            <a:ext cx="10058400" cy="12697"/>
          </a:xfrm>
          <a:custGeom>
            <a:avLst/>
            <a:gdLst/>
            <a:ahLst/>
            <a:cxnLst/>
            <a:rect l="l" t="t" r="r" b="b"/>
            <a:pathLst>
              <a:path w="10058400" h="12697">
                <a:moveTo>
                  <a:pt x="0" y="0"/>
                </a:moveTo>
                <a:lnTo>
                  <a:pt x="10058400" y="0"/>
                </a:lnTo>
                <a:lnTo>
                  <a:pt x="1005840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25217" y="2336797"/>
            <a:ext cx="9453877" cy="822455"/>
          </a:xfrm>
          <a:custGeom>
            <a:avLst/>
            <a:gdLst/>
            <a:ahLst/>
            <a:cxnLst/>
            <a:rect l="l" t="t" r="r" b="b"/>
            <a:pathLst>
              <a:path w="9453877" h="822455">
                <a:moveTo>
                  <a:pt x="0" y="0"/>
                </a:moveTo>
                <a:lnTo>
                  <a:pt x="9453877" y="0"/>
                </a:lnTo>
                <a:lnTo>
                  <a:pt x="9453877" y="822455"/>
                </a:lnTo>
                <a:lnTo>
                  <a:pt x="0" y="8224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09360" y="1874520"/>
            <a:ext cx="3840604" cy="277197"/>
          </a:xfrm>
          <a:custGeom>
            <a:avLst/>
            <a:gdLst/>
            <a:ahLst/>
            <a:cxnLst/>
            <a:rect l="l" t="t" r="r" b="b"/>
            <a:pathLst>
              <a:path w="3840604" h="277197">
                <a:moveTo>
                  <a:pt x="0" y="0"/>
                </a:moveTo>
                <a:lnTo>
                  <a:pt x="3840604" y="0"/>
                </a:lnTo>
                <a:lnTo>
                  <a:pt x="3840604" y="277197"/>
                </a:lnTo>
                <a:lnTo>
                  <a:pt x="0" y="277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4400" y="4160520"/>
            <a:ext cx="10241404" cy="277197"/>
          </a:xfrm>
          <a:custGeom>
            <a:avLst/>
            <a:gdLst/>
            <a:ahLst/>
            <a:cxnLst/>
            <a:rect l="l" t="t" r="r" b="b"/>
            <a:pathLst>
              <a:path w="10241404" h="277197">
                <a:moveTo>
                  <a:pt x="0" y="0"/>
                </a:moveTo>
                <a:lnTo>
                  <a:pt x="10241404" y="0"/>
                </a:lnTo>
                <a:lnTo>
                  <a:pt x="10241404" y="277197"/>
                </a:lnTo>
                <a:lnTo>
                  <a:pt x="0" y="2771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14400" y="4983480"/>
            <a:ext cx="10241404" cy="246297"/>
          </a:xfrm>
          <a:custGeom>
            <a:avLst/>
            <a:gdLst/>
            <a:ahLst/>
            <a:cxnLst/>
            <a:rect l="l" t="t" r="r" b="b"/>
            <a:pathLst>
              <a:path w="10241404" h="246297">
                <a:moveTo>
                  <a:pt x="0" y="0"/>
                </a:moveTo>
                <a:lnTo>
                  <a:pt x="10241404" y="0"/>
                </a:lnTo>
                <a:lnTo>
                  <a:pt x="10241404" y="246297"/>
                </a:lnTo>
                <a:lnTo>
                  <a:pt x="0" y="2462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109960" y="6355080"/>
            <a:ext cx="183004" cy="122996"/>
          </a:xfrm>
          <a:custGeom>
            <a:avLst/>
            <a:gdLst/>
            <a:ahLst/>
            <a:cxnLst/>
            <a:rect l="l" t="t" r="r" b="b"/>
            <a:pathLst>
              <a:path w="183004" h="122996">
                <a:moveTo>
                  <a:pt x="0" y="0"/>
                </a:moveTo>
                <a:lnTo>
                  <a:pt x="183004" y="0"/>
                </a:lnTo>
                <a:lnTo>
                  <a:pt x="183004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12064" y="109442"/>
            <a:ext cx="4317359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Naive Bayes Assumption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6696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0352" y="528599"/>
            <a:ext cx="619844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Treatfeaturesasconditionallyindependentoncethe class is known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8680" y="1214399"/>
            <a:ext cx="5928579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hard part is calculating the joint probability of many features.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58829" y="4963439"/>
            <a:ext cx="5457882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“Naive” refers to this conditional-independence assumption.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236509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08407" y="1688840"/>
            <a:ext cx="2650703" cy="142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Without the assumption P(x1, x2, x3 | y)</a:t>
            </a:r>
          </a:p>
          <a:p>
            <a:pPr algn="ctr">
              <a:lnSpc>
                <a:spcPts val="33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Estimate combinations together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15989" y="4146290"/>
            <a:ext cx="594612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P(x1, x2, ..., xn | y) ≈ P(x1 | y) × P(x2 | y) × ... × P(xn | y)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93091" y="1688840"/>
            <a:ext cx="3338217" cy="142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Given the class y</a:t>
            </a:r>
          </a:p>
          <a:p>
            <a:pPr algn="ctr">
              <a:lnSpc>
                <a:spcPts val="43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P(x1 | y) × P(x2 | y) × P(x3 | y)</a:t>
            </a:r>
          </a:p>
          <a:p>
            <a:pPr algn="ctr">
              <a:lnSpc>
                <a:spcPts val="33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Treat feature probabilities as independent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57839" y="2411416"/>
            <a:ext cx="864337" cy="378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8"/>
              </a:lnSpc>
            </a:pPr>
            <a:r>
              <a:rPr lang="en-US" sz="1190" b="1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rPr>
              <a:t>Naive assumption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8680" y="3886200"/>
            <a:ext cx="10058400" cy="329184"/>
          </a:xfrm>
          <a:custGeom>
            <a:avLst/>
            <a:gdLst/>
            <a:ahLst/>
            <a:cxnLst/>
            <a:rect l="l" t="t" r="r" b="b"/>
            <a:pathLst>
              <a:path w="10058400" h="329184">
                <a:moveTo>
                  <a:pt x="0" y="0"/>
                </a:moveTo>
                <a:lnTo>
                  <a:pt x="10058400" y="0"/>
                </a:lnTo>
                <a:lnTo>
                  <a:pt x="100584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8680" y="4617720"/>
            <a:ext cx="10058400" cy="274320"/>
          </a:xfrm>
          <a:custGeom>
            <a:avLst/>
            <a:gdLst/>
            <a:ahLst/>
            <a:cxnLst/>
            <a:rect l="l" t="t" r="r" b="b"/>
            <a:pathLst>
              <a:path w="10058400" h="274320">
                <a:moveTo>
                  <a:pt x="0" y="0"/>
                </a:moveTo>
                <a:lnTo>
                  <a:pt x="10058400" y="0"/>
                </a:lnTo>
                <a:lnTo>
                  <a:pt x="1005840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8680" y="5074920"/>
            <a:ext cx="10058400" cy="292608"/>
          </a:xfrm>
          <a:custGeom>
            <a:avLst/>
            <a:gdLst/>
            <a:ahLst/>
            <a:cxnLst/>
            <a:rect l="l" t="t" r="r" b="b"/>
            <a:pathLst>
              <a:path w="10058400" h="292608">
                <a:moveTo>
                  <a:pt x="0" y="0"/>
                </a:moveTo>
                <a:lnTo>
                  <a:pt x="10058400" y="0"/>
                </a:lnTo>
                <a:lnTo>
                  <a:pt x="10058400" y="292608"/>
                </a:lnTo>
                <a:lnTo>
                  <a:pt x="0" y="2926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8680" y="2560320"/>
            <a:ext cx="9875520" cy="274320"/>
          </a:xfrm>
          <a:custGeom>
            <a:avLst/>
            <a:gdLst/>
            <a:ahLst/>
            <a:cxnLst/>
            <a:rect l="l" t="t" r="r" b="b"/>
            <a:pathLst>
              <a:path w="9875520" h="274320">
                <a:moveTo>
                  <a:pt x="0" y="0"/>
                </a:moveTo>
                <a:lnTo>
                  <a:pt x="9875520" y="0"/>
                </a:lnTo>
                <a:lnTo>
                  <a:pt x="987552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68680" y="1600200"/>
            <a:ext cx="7498080" cy="274320"/>
          </a:xfrm>
          <a:custGeom>
            <a:avLst/>
            <a:gdLst/>
            <a:ahLst/>
            <a:cxnLst/>
            <a:rect l="l" t="t" r="r" b="b"/>
            <a:pathLst>
              <a:path w="7498080" h="274320">
                <a:moveTo>
                  <a:pt x="0" y="0"/>
                </a:moveTo>
                <a:lnTo>
                  <a:pt x="7498080" y="0"/>
                </a:lnTo>
                <a:lnTo>
                  <a:pt x="749808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8680" y="1234440"/>
            <a:ext cx="4572000" cy="228600"/>
          </a:xfrm>
          <a:custGeom>
            <a:avLst/>
            <a:gdLst/>
            <a:ahLst/>
            <a:cxnLst/>
            <a:rect l="l" t="t" r="r" b="b"/>
            <a:pathLst>
              <a:path w="4572000" h="228600">
                <a:moveTo>
                  <a:pt x="0" y="0"/>
                </a:moveTo>
                <a:lnTo>
                  <a:pt x="4572000" y="0"/>
                </a:lnTo>
                <a:lnTo>
                  <a:pt x="4572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8680" y="2194560"/>
            <a:ext cx="4572000" cy="228600"/>
          </a:xfrm>
          <a:custGeom>
            <a:avLst/>
            <a:gdLst/>
            <a:ahLst/>
            <a:cxnLst/>
            <a:rect l="l" t="t" r="r" b="b"/>
            <a:pathLst>
              <a:path w="4572000" h="228600">
                <a:moveTo>
                  <a:pt x="0" y="0"/>
                </a:moveTo>
                <a:lnTo>
                  <a:pt x="4572000" y="0"/>
                </a:lnTo>
                <a:lnTo>
                  <a:pt x="4572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68680" y="3520440"/>
            <a:ext cx="4572000" cy="228600"/>
          </a:xfrm>
          <a:custGeom>
            <a:avLst/>
            <a:gdLst/>
            <a:ahLst/>
            <a:cxnLst/>
            <a:rect l="l" t="t" r="r" b="b"/>
            <a:pathLst>
              <a:path w="4572000" h="228600">
                <a:moveTo>
                  <a:pt x="0" y="0"/>
                </a:moveTo>
                <a:lnTo>
                  <a:pt x="4572000" y="0"/>
                </a:lnTo>
                <a:lnTo>
                  <a:pt x="4572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68680" y="3148327"/>
            <a:ext cx="10195560" cy="12697"/>
          </a:xfrm>
          <a:custGeom>
            <a:avLst/>
            <a:gdLst/>
            <a:ahLst/>
            <a:cxnLst/>
            <a:rect l="l" t="t" r="r" b="b"/>
            <a:pathLst>
              <a:path w="10195560" h="12697">
                <a:moveTo>
                  <a:pt x="0" y="0"/>
                </a:moveTo>
                <a:lnTo>
                  <a:pt x="10195560" y="0"/>
                </a:lnTo>
                <a:lnTo>
                  <a:pt x="1019556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12064" y="109442"/>
            <a:ext cx="6122937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Naive Bayes Classification Formula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8680" y="4597679"/>
            <a:ext cx="6804060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Prediction: calculate this score for every class and choose the largest one.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236395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8680" y="1191635"/>
            <a:ext cx="3145955" cy="72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From Bayes in classification P(y | X) </a:t>
            </a:r>
            <a:r>
              <a:rPr lang="en-US" sz="1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∝</a:t>
            </a: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 P(X | y) × P(y)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8680" y="2180330"/>
            <a:ext cx="3093491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Using the naive assumption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83522" y="2542003"/>
            <a:ext cx="60998" cy="30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680" y="3477635"/>
            <a:ext cx="5560219" cy="72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Final Naive Bayes score</a:t>
            </a:r>
          </a:p>
          <a:p>
            <a:pPr algn="l">
              <a:lnSpc>
                <a:spcPts val="288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score(y) = P(y) × P(x1 | y) × P(x2 | y) × ... × P(xn | y)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27471" y="5060690"/>
            <a:ext cx="34040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ŷ = argmax_y P(y) × ∏ᵢ P(xᵢ | y)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8680" y="2542003"/>
            <a:ext cx="4351068" cy="30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P(X | y)≈P(x1 | y)×P(x2 | y)×...× P(xn | 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22960" y="1234440"/>
            <a:ext cx="3291840" cy="228600"/>
          </a:xfrm>
          <a:custGeom>
            <a:avLst/>
            <a:gdLst/>
            <a:ahLst/>
            <a:cxnLst/>
            <a:rect l="l" t="t" r="r" b="b"/>
            <a:pathLst>
              <a:path w="3291840" h="228600">
                <a:moveTo>
                  <a:pt x="0" y="0"/>
                </a:moveTo>
                <a:lnTo>
                  <a:pt x="3291840" y="0"/>
                </a:lnTo>
                <a:lnTo>
                  <a:pt x="329184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53113" y="1530353"/>
            <a:ext cx="3888724" cy="2955979"/>
          </a:xfrm>
          <a:custGeom>
            <a:avLst/>
            <a:gdLst/>
            <a:ahLst/>
            <a:cxnLst/>
            <a:rect l="l" t="t" r="r" b="b"/>
            <a:pathLst>
              <a:path w="3888724" h="2955979">
                <a:moveTo>
                  <a:pt x="0" y="0"/>
                </a:moveTo>
                <a:lnTo>
                  <a:pt x="3888724" y="0"/>
                </a:lnTo>
                <a:lnTo>
                  <a:pt x="3888724" y="2955979"/>
                </a:lnTo>
                <a:lnTo>
                  <a:pt x="0" y="2955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937760" y="3429000"/>
            <a:ext cx="5943600" cy="237744"/>
          </a:xfrm>
          <a:custGeom>
            <a:avLst/>
            <a:gdLst/>
            <a:ahLst/>
            <a:cxnLst/>
            <a:rect l="l" t="t" r="r" b="b"/>
            <a:pathLst>
              <a:path w="5943600" h="237744">
                <a:moveTo>
                  <a:pt x="0" y="0"/>
                </a:moveTo>
                <a:lnTo>
                  <a:pt x="5943600" y="0"/>
                </a:lnTo>
                <a:lnTo>
                  <a:pt x="5943600" y="237744"/>
                </a:lnTo>
                <a:lnTo>
                  <a:pt x="0" y="2377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37760" y="2788920"/>
            <a:ext cx="5120640" cy="320040"/>
          </a:xfrm>
          <a:custGeom>
            <a:avLst/>
            <a:gdLst/>
            <a:ahLst/>
            <a:cxnLst/>
            <a:rect l="l" t="t" r="r" b="b"/>
            <a:pathLst>
              <a:path w="5120640" h="320040">
                <a:moveTo>
                  <a:pt x="0" y="0"/>
                </a:moveTo>
                <a:lnTo>
                  <a:pt x="5120640" y="0"/>
                </a:lnTo>
                <a:lnTo>
                  <a:pt x="512064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37760" y="1417320"/>
            <a:ext cx="4114800" cy="228600"/>
          </a:xfrm>
          <a:custGeom>
            <a:avLst/>
            <a:gdLst/>
            <a:ahLst/>
            <a:cxnLst/>
            <a:rect l="l" t="t" r="r" b="b"/>
            <a:pathLst>
              <a:path w="4114800" h="228600">
                <a:moveTo>
                  <a:pt x="0" y="0"/>
                </a:moveTo>
                <a:lnTo>
                  <a:pt x="4114800" y="0"/>
                </a:lnTo>
                <a:lnTo>
                  <a:pt x="41148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74257" y="1811017"/>
            <a:ext cx="3784597" cy="748789"/>
          </a:xfrm>
          <a:custGeom>
            <a:avLst/>
            <a:gdLst/>
            <a:ahLst/>
            <a:cxnLst/>
            <a:rect l="l" t="t" r="r" b="b"/>
            <a:pathLst>
              <a:path w="3784597" h="748789">
                <a:moveTo>
                  <a:pt x="0" y="0"/>
                </a:moveTo>
                <a:lnTo>
                  <a:pt x="3784597" y="0"/>
                </a:lnTo>
                <a:lnTo>
                  <a:pt x="3784597" y="748789"/>
                </a:lnTo>
                <a:lnTo>
                  <a:pt x="0" y="74878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12064" y="109442"/>
            <a:ext cx="6109516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Let’s Build a Naive Bayes Classifier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37760" y="1797329"/>
            <a:ext cx="1778737" cy="71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Weather = Sunny Temperature = Mild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7760" y="2768879"/>
            <a:ext cx="3107093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Predict: Play = Yes or Play = No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37760" y="3437534"/>
            <a:ext cx="5751366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 will first learn probabilities from the training table, then use only the needed ones for this new day.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36395" y="6340297"/>
            <a:ext cx="57617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7572" y="1220210"/>
            <a:ext cx="144940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Training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37760" y="1403090"/>
            <a:ext cx="186421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New observation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7501" y="1685963"/>
            <a:ext cx="285093" cy="2674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Day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  <a:p>
            <a:pPr algn="ctr">
              <a:lnSpc>
                <a:spcPts val="2016"/>
              </a:lnSpc>
              <a:spcBef>
                <a:spcPts val="1953"/>
              </a:spcBef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  <a:p>
            <a:pPr algn="ctr">
              <a:lnSpc>
                <a:spcPts val="2016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  <a:p>
            <a:pPr algn="ctr">
              <a:lnSpc>
                <a:spcPts val="2016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  <a:p>
            <a:pPr algn="ctr">
              <a:lnSpc>
                <a:spcPts val="2016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  <a:p>
            <a:pPr algn="ctr">
              <a:lnSpc>
                <a:spcPts val="2016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  <a:p>
            <a:pPr algn="ctr">
              <a:lnSpc>
                <a:spcPts val="2016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  <a:p>
            <a:pPr algn="ctr">
              <a:lnSpc>
                <a:spcPts val="2016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algn="ctr">
              <a:lnSpc>
                <a:spcPts val="2016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9 10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12433" y="1685963"/>
            <a:ext cx="610133" cy="2674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Weather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Sunny</a:t>
            </a:r>
          </a:p>
          <a:p>
            <a:pPr algn="ctr">
              <a:lnSpc>
                <a:spcPts val="2016"/>
              </a:lnSpc>
              <a:spcBef>
                <a:spcPts val="1953"/>
              </a:spcBef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Sunny Rainy Sunny Cloudy Rainy Sunny Cloudy Rainy Sunny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02832" y="1685963"/>
            <a:ext cx="402765" cy="2674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Temp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Mild</a:t>
            </a:r>
          </a:p>
          <a:p>
            <a:pPr algn="ctr">
              <a:lnSpc>
                <a:spcPts val="2016"/>
              </a:lnSpc>
              <a:spcBef>
                <a:spcPts val="1953"/>
              </a:spcBef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Hot Mild Mild Mild Hot Cool Hot Mild Mild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03758" y="1685963"/>
            <a:ext cx="319449" cy="2674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Play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  <a:p>
            <a:pPr algn="ctr">
              <a:lnSpc>
                <a:spcPts val="2016"/>
              </a:lnSpc>
              <a:spcBef>
                <a:spcPts val="1953"/>
              </a:spcBef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No Yes Yes Yes No No Yes Yes 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8680" y="1298448"/>
            <a:ext cx="3657600" cy="320040"/>
          </a:xfrm>
          <a:custGeom>
            <a:avLst/>
            <a:gdLst/>
            <a:ahLst/>
            <a:cxnLst/>
            <a:rect l="l" t="t" r="r" b="b"/>
            <a:pathLst>
              <a:path w="3657600" h="320040">
                <a:moveTo>
                  <a:pt x="0" y="0"/>
                </a:moveTo>
                <a:lnTo>
                  <a:pt x="3657600" y="0"/>
                </a:lnTo>
                <a:lnTo>
                  <a:pt x="365760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23608" y="1669561"/>
            <a:ext cx="593074" cy="355330"/>
            <a:chOff x="0" y="0"/>
            <a:chExt cx="790766" cy="4737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800110" y="1623070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3030" y="1623070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400310" y="1623070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326528" y="1669561"/>
            <a:ext cx="2833354" cy="355330"/>
            <a:chOff x="0" y="0"/>
            <a:chExt cx="3777805" cy="4737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3360430" y="1623070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23608" y="1934737"/>
            <a:ext cx="593074" cy="355330"/>
            <a:chOff x="0" y="0"/>
            <a:chExt cx="790766" cy="4737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800110" y="1888246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03030" y="1888246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400310" y="1888246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326528" y="1934737"/>
            <a:ext cx="2833354" cy="355330"/>
            <a:chOff x="0" y="0"/>
            <a:chExt cx="3777805" cy="47377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3360430" y="1888246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823608" y="2199913"/>
            <a:ext cx="593074" cy="355330"/>
            <a:chOff x="0" y="0"/>
            <a:chExt cx="790766" cy="47377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800110" y="2153422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03030" y="2153422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400310" y="2153422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326528" y="2199913"/>
            <a:ext cx="2833354" cy="355330"/>
            <a:chOff x="0" y="0"/>
            <a:chExt cx="3777805" cy="47377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>
            <a:off x="3360430" y="2153422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823608" y="2465089"/>
            <a:ext cx="593074" cy="355330"/>
            <a:chOff x="0" y="0"/>
            <a:chExt cx="790766" cy="47377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34" name="Freeform 34"/>
          <p:cNvSpPr/>
          <p:nvPr/>
        </p:nvSpPr>
        <p:spPr>
          <a:xfrm>
            <a:off x="800110" y="2418598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303030" y="2418598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400310" y="2418598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1326528" y="2465089"/>
            <a:ext cx="2833354" cy="355330"/>
            <a:chOff x="0" y="0"/>
            <a:chExt cx="3777805" cy="4737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39" name="Freeform 39"/>
          <p:cNvSpPr/>
          <p:nvPr/>
        </p:nvSpPr>
        <p:spPr>
          <a:xfrm>
            <a:off x="3360430" y="2418598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823608" y="2730265"/>
            <a:ext cx="593074" cy="355330"/>
            <a:chOff x="0" y="0"/>
            <a:chExt cx="790766" cy="47377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800110" y="2683774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303030" y="2683774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2400310" y="2683774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1326528" y="2730265"/>
            <a:ext cx="2833354" cy="355330"/>
            <a:chOff x="0" y="0"/>
            <a:chExt cx="3777805" cy="47377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47" name="Freeform 47"/>
          <p:cNvSpPr/>
          <p:nvPr/>
        </p:nvSpPr>
        <p:spPr>
          <a:xfrm>
            <a:off x="3360430" y="2683774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823608" y="2995441"/>
            <a:ext cx="593074" cy="355330"/>
            <a:chOff x="0" y="0"/>
            <a:chExt cx="790766" cy="47377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50" name="Freeform 50"/>
          <p:cNvSpPr/>
          <p:nvPr/>
        </p:nvSpPr>
        <p:spPr>
          <a:xfrm>
            <a:off x="800110" y="2948950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303030" y="2948950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2400310" y="2948950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53" name="Group 53"/>
          <p:cNvGrpSpPr/>
          <p:nvPr/>
        </p:nvGrpSpPr>
        <p:grpSpPr>
          <a:xfrm>
            <a:off x="1326528" y="2995441"/>
            <a:ext cx="2833354" cy="355330"/>
            <a:chOff x="0" y="0"/>
            <a:chExt cx="3777805" cy="47377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55" name="Freeform 55"/>
          <p:cNvSpPr/>
          <p:nvPr/>
        </p:nvSpPr>
        <p:spPr>
          <a:xfrm>
            <a:off x="3360430" y="2948950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823608" y="3260617"/>
            <a:ext cx="593074" cy="355330"/>
            <a:chOff x="0" y="0"/>
            <a:chExt cx="790766" cy="47377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58" name="Freeform 58"/>
          <p:cNvSpPr/>
          <p:nvPr/>
        </p:nvSpPr>
        <p:spPr>
          <a:xfrm>
            <a:off x="800110" y="3214126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303030" y="3214126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2400310" y="3214126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61" name="Group 61"/>
          <p:cNvGrpSpPr/>
          <p:nvPr/>
        </p:nvGrpSpPr>
        <p:grpSpPr>
          <a:xfrm>
            <a:off x="1326528" y="3260617"/>
            <a:ext cx="2833354" cy="355330"/>
            <a:chOff x="0" y="0"/>
            <a:chExt cx="3777805" cy="47377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63" name="Freeform 63"/>
          <p:cNvSpPr/>
          <p:nvPr/>
        </p:nvSpPr>
        <p:spPr>
          <a:xfrm>
            <a:off x="3360430" y="3214126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64" name="Group 64"/>
          <p:cNvGrpSpPr/>
          <p:nvPr/>
        </p:nvGrpSpPr>
        <p:grpSpPr>
          <a:xfrm>
            <a:off x="823608" y="3525793"/>
            <a:ext cx="593074" cy="355330"/>
            <a:chOff x="0" y="0"/>
            <a:chExt cx="790766" cy="47377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66" name="Freeform 66"/>
          <p:cNvSpPr/>
          <p:nvPr/>
        </p:nvSpPr>
        <p:spPr>
          <a:xfrm>
            <a:off x="800110" y="3479302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67" name="Freeform 67"/>
          <p:cNvSpPr/>
          <p:nvPr/>
        </p:nvSpPr>
        <p:spPr>
          <a:xfrm>
            <a:off x="1303030" y="3479302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2400310" y="3479302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69" name="Group 69"/>
          <p:cNvGrpSpPr/>
          <p:nvPr/>
        </p:nvGrpSpPr>
        <p:grpSpPr>
          <a:xfrm>
            <a:off x="1326528" y="3525793"/>
            <a:ext cx="2833354" cy="355330"/>
            <a:chOff x="0" y="0"/>
            <a:chExt cx="3777805" cy="47377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71" name="Freeform 71"/>
          <p:cNvSpPr/>
          <p:nvPr/>
        </p:nvSpPr>
        <p:spPr>
          <a:xfrm>
            <a:off x="3360430" y="3479302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72" name="Group 72"/>
          <p:cNvGrpSpPr/>
          <p:nvPr/>
        </p:nvGrpSpPr>
        <p:grpSpPr>
          <a:xfrm>
            <a:off x="823608" y="3790969"/>
            <a:ext cx="593074" cy="355330"/>
            <a:chOff x="0" y="0"/>
            <a:chExt cx="790766" cy="47377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74" name="Freeform 74"/>
          <p:cNvSpPr/>
          <p:nvPr/>
        </p:nvSpPr>
        <p:spPr>
          <a:xfrm>
            <a:off x="800110" y="3744478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75" name="Freeform 75"/>
          <p:cNvSpPr/>
          <p:nvPr/>
        </p:nvSpPr>
        <p:spPr>
          <a:xfrm>
            <a:off x="1303030" y="3744478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>
            <a:off x="2400310" y="3744478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77" name="Group 77"/>
          <p:cNvGrpSpPr/>
          <p:nvPr/>
        </p:nvGrpSpPr>
        <p:grpSpPr>
          <a:xfrm>
            <a:off x="1326528" y="3790969"/>
            <a:ext cx="2833354" cy="355330"/>
            <a:chOff x="0" y="0"/>
            <a:chExt cx="3777805" cy="47377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79" name="Freeform 79"/>
          <p:cNvSpPr/>
          <p:nvPr/>
        </p:nvSpPr>
        <p:spPr>
          <a:xfrm>
            <a:off x="3360430" y="3744478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80" name="Group 80"/>
          <p:cNvGrpSpPr/>
          <p:nvPr/>
        </p:nvGrpSpPr>
        <p:grpSpPr>
          <a:xfrm>
            <a:off x="823608" y="4056145"/>
            <a:ext cx="593074" cy="355330"/>
            <a:chOff x="0" y="0"/>
            <a:chExt cx="790766" cy="47377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82" name="Freeform 82"/>
          <p:cNvSpPr/>
          <p:nvPr/>
        </p:nvSpPr>
        <p:spPr>
          <a:xfrm>
            <a:off x="800110" y="4009644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1303030" y="4009644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2400310" y="4009644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85" name="Group 85"/>
          <p:cNvGrpSpPr/>
          <p:nvPr/>
        </p:nvGrpSpPr>
        <p:grpSpPr>
          <a:xfrm>
            <a:off x="1326528" y="4056145"/>
            <a:ext cx="2833354" cy="355330"/>
            <a:chOff x="0" y="0"/>
            <a:chExt cx="3777805" cy="47377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87" name="Freeform 87"/>
          <p:cNvSpPr/>
          <p:nvPr/>
        </p:nvSpPr>
        <p:spPr>
          <a:xfrm>
            <a:off x="3360430" y="4009644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88" name="Group 88"/>
          <p:cNvGrpSpPr/>
          <p:nvPr/>
        </p:nvGrpSpPr>
        <p:grpSpPr>
          <a:xfrm>
            <a:off x="823608" y="4321321"/>
            <a:ext cx="593074" cy="355330"/>
            <a:chOff x="0" y="0"/>
            <a:chExt cx="790766" cy="47377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790702" cy="473710"/>
            </a:xfrm>
            <a:custGeom>
              <a:avLst/>
              <a:gdLst/>
              <a:ahLst/>
              <a:cxnLst/>
              <a:rect l="l" t="t" r="r" b="b"/>
              <a:pathLst>
                <a:path w="790702" h="473710">
                  <a:moveTo>
                    <a:pt x="0" y="0"/>
                  </a:moveTo>
                  <a:lnTo>
                    <a:pt x="790702" y="0"/>
                  </a:lnTo>
                  <a:lnTo>
                    <a:pt x="79070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8" b="-13"/>
              </a:stretch>
            </a:blipFill>
          </p:spPr>
        </p:sp>
      </p:grpSp>
      <p:sp>
        <p:nvSpPr>
          <p:cNvPr id="90" name="Freeform 90"/>
          <p:cNvSpPr/>
          <p:nvPr/>
        </p:nvSpPr>
        <p:spPr>
          <a:xfrm>
            <a:off x="800110" y="4274830"/>
            <a:ext cx="640070" cy="402326"/>
          </a:xfrm>
          <a:custGeom>
            <a:avLst/>
            <a:gdLst/>
            <a:ahLst/>
            <a:cxnLst/>
            <a:rect l="l" t="t" r="r" b="b"/>
            <a:pathLst>
              <a:path w="640070" h="402326">
                <a:moveTo>
                  <a:pt x="0" y="0"/>
                </a:moveTo>
                <a:lnTo>
                  <a:pt x="640070" y="0"/>
                </a:lnTo>
                <a:lnTo>
                  <a:pt x="6400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1303030" y="4274830"/>
            <a:ext cx="1234430" cy="402326"/>
          </a:xfrm>
          <a:custGeom>
            <a:avLst/>
            <a:gdLst/>
            <a:ahLst/>
            <a:cxnLst/>
            <a:rect l="l" t="t" r="r" b="b"/>
            <a:pathLst>
              <a:path w="1234430" h="402326">
                <a:moveTo>
                  <a:pt x="0" y="0"/>
                </a:moveTo>
                <a:lnTo>
                  <a:pt x="1234430" y="0"/>
                </a:lnTo>
                <a:lnTo>
                  <a:pt x="123443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92" name="Freeform 92"/>
          <p:cNvSpPr/>
          <p:nvPr/>
        </p:nvSpPr>
        <p:spPr>
          <a:xfrm>
            <a:off x="2400310" y="4274830"/>
            <a:ext cx="1097270" cy="402326"/>
          </a:xfrm>
          <a:custGeom>
            <a:avLst/>
            <a:gdLst/>
            <a:ahLst/>
            <a:cxnLst/>
            <a:rect l="l" t="t" r="r" b="b"/>
            <a:pathLst>
              <a:path w="1097270" h="402326">
                <a:moveTo>
                  <a:pt x="0" y="0"/>
                </a:moveTo>
                <a:lnTo>
                  <a:pt x="1097270" y="0"/>
                </a:lnTo>
                <a:lnTo>
                  <a:pt x="109727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93" name="Group 93"/>
          <p:cNvGrpSpPr/>
          <p:nvPr/>
        </p:nvGrpSpPr>
        <p:grpSpPr>
          <a:xfrm>
            <a:off x="1326528" y="4321321"/>
            <a:ext cx="2833354" cy="355330"/>
            <a:chOff x="0" y="0"/>
            <a:chExt cx="3777805" cy="47377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777742" cy="473710"/>
            </a:xfrm>
            <a:custGeom>
              <a:avLst/>
              <a:gdLst/>
              <a:ahLst/>
              <a:cxnLst/>
              <a:rect l="l" t="t" r="r" b="b"/>
              <a:pathLst>
                <a:path w="3777742" h="473710">
                  <a:moveTo>
                    <a:pt x="0" y="0"/>
                  </a:moveTo>
                  <a:lnTo>
                    <a:pt x="3777742" y="0"/>
                  </a:lnTo>
                  <a:lnTo>
                    <a:pt x="3777742" y="473710"/>
                  </a:lnTo>
                  <a:lnTo>
                    <a:pt x="0" y="473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" b="-13"/>
              </a:stretch>
            </a:blipFill>
          </p:spPr>
        </p:sp>
      </p:grpSp>
      <p:sp>
        <p:nvSpPr>
          <p:cNvPr id="95" name="Freeform 95"/>
          <p:cNvSpPr/>
          <p:nvPr/>
        </p:nvSpPr>
        <p:spPr>
          <a:xfrm>
            <a:off x="3360430" y="4274830"/>
            <a:ext cx="822950" cy="402326"/>
          </a:xfrm>
          <a:custGeom>
            <a:avLst/>
            <a:gdLst/>
            <a:ahLst/>
            <a:cxnLst/>
            <a:rect l="l" t="t" r="r" b="b"/>
            <a:pathLst>
              <a:path w="822950" h="402326">
                <a:moveTo>
                  <a:pt x="0" y="0"/>
                </a:moveTo>
                <a:lnTo>
                  <a:pt x="822950" y="0"/>
                </a:lnTo>
                <a:lnTo>
                  <a:pt x="822950" y="402326"/>
                </a:lnTo>
                <a:lnTo>
                  <a:pt x="0" y="40232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5486400" y="1463040"/>
            <a:ext cx="4114800" cy="320040"/>
          </a:xfrm>
          <a:custGeom>
            <a:avLst/>
            <a:gdLst/>
            <a:ahLst/>
            <a:cxnLst/>
            <a:rect l="l" t="t" r="r" b="b"/>
            <a:pathLst>
              <a:path w="4114800" h="320040">
                <a:moveTo>
                  <a:pt x="0" y="0"/>
                </a:moveTo>
                <a:lnTo>
                  <a:pt x="4114800" y="0"/>
                </a:lnTo>
                <a:lnTo>
                  <a:pt x="411480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97" name="Freeform 97"/>
          <p:cNvSpPr/>
          <p:nvPr/>
        </p:nvSpPr>
        <p:spPr>
          <a:xfrm>
            <a:off x="5486400" y="3429000"/>
            <a:ext cx="4114800" cy="320040"/>
          </a:xfrm>
          <a:custGeom>
            <a:avLst/>
            <a:gdLst/>
            <a:ahLst/>
            <a:cxnLst/>
            <a:rect l="l" t="t" r="r" b="b"/>
            <a:pathLst>
              <a:path w="4114800" h="320040">
                <a:moveTo>
                  <a:pt x="0" y="0"/>
                </a:moveTo>
                <a:lnTo>
                  <a:pt x="4114800" y="0"/>
                </a:lnTo>
                <a:lnTo>
                  <a:pt x="411480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98" name="Freeform 98"/>
          <p:cNvSpPr/>
          <p:nvPr/>
        </p:nvSpPr>
        <p:spPr>
          <a:xfrm>
            <a:off x="5486400" y="3886200"/>
            <a:ext cx="4114800" cy="320040"/>
          </a:xfrm>
          <a:custGeom>
            <a:avLst/>
            <a:gdLst/>
            <a:ahLst/>
            <a:cxnLst/>
            <a:rect l="l" t="t" r="r" b="b"/>
            <a:pathLst>
              <a:path w="4114800" h="320040">
                <a:moveTo>
                  <a:pt x="0" y="0"/>
                </a:moveTo>
                <a:lnTo>
                  <a:pt x="4114800" y="0"/>
                </a:lnTo>
                <a:lnTo>
                  <a:pt x="411480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99" name="Freeform 99"/>
          <p:cNvSpPr/>
          <p:nvPr/>
        </p:nvSpPr>
        <p:spPr>
          <a:xfrm>
            <a:off x="5486400" y="4800600"/>
            <a:ext cx="4114800" cy="548640"/>
          </a:xfrm>
          <a:custGeom>
            <a:avLst/>
            <a:gdLst/>
            <a:ahLst/>
            <a:cxnLst/>
            <a:rect l="l" t="t" r="r" b="b"/>
            <a:pathLst>
              <a:path w="4114800" h="548640">
                <a:moveTo>
                  <a:pt x="0" y="0"/>
                </a:moveTo>
                <a:lnTo>
                  <a:pt x="4114800" y="0"/>
                </a:lnTo>
                <a:lnTo>
                  <a:pt x="411480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100" name="Freeform 100"/>
          <p:cNvSpPr/>
          <p:nvPr/>
        </p:nvSpPr>
        <p:spPr>
          <a:xfrm>
            <a:off x="5486400" y="2971800"/>
            <a:ext cx="4023360" cy="320040"/>
          </a:xfrm>
          <a:custGeom>
            <a:avLst/>
            <a:gdLst/>
            <a:ahLst/>
            <a:cxnLst/>
            <a:rect l="l" t="t" r="r" b="b"/>
            <a:pathLst>
              <a:path w="4023360" h="320040">
                <a:moveTo>
                  <a:pt x="0" y="0"/>
                </a:moveTo>
                <a:lnTo>
                  <a:pt x="4023360" y="0"/>
                </a:lnTo>
                <a:lnTo>
                  <a:pt x="402336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101" name="Freeform 101"/>
          <p:cNvSpPr/>
          <p:nvPr/>
        </p:nvSpPr>
        <p:spPr>
          <a:xfrm>
            <a:off x="5486400" y="1938528"/>
            <a:ext cx="3200400" cy="256032"/>
          </a:xfrm>
          <a:custGeom>
            <a:avLst/>
            <a:gdLst/>
            <a:ahLst/>
            <a:cxnLst/>
            <a:rect l="l" t="t" r="r" b="b"/>
            <a:pathLst>
              <a:path w="3200400" h="256032">
                <a:moveTo>
                  <a:pt x="0" y="0"/>
                </a:moveTo>
                <a:lnTo>
                  <a:pt x="3200400" y="0"/>
                </a:lnTo>
                <a:lnTo>
                  <a:pt x="32004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102" name="Freeform 102"/>
          <p:cNvSpPr/>
          <p:nvPr/>
        </p:nvSpPr>
        <p:spPr>
          <a:xfrm>
            <a:off x="5486400" y="2395728"/>
            <a:ext cx="3200400" cy="256032"/>
          </a:xfrm>
          <a:custGeom>
            <a:avLst/>
            <a:gdLst/>
            <a:ahLst/>
            <a:cxnLst/>
            <a:rect l="l" t="t" r="r" b="b"/>
            <a:pathLst>
              <a:path w="3200400" h="256032">
                <a:moveTo>
                  <a:pt x="0" y="0"/>
                </a:moveTo>
                <a:lnTo>
                  <a:pt x="3200400" y="0"/>
                </a:lnTo>
                <a:lnTo>
                  <a:pt x="32004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103" name="TextBox 103"/>
          <p:cNvSpPr txBox="1"/>
          <p:nvPr/>
        </p:nvSpPr>
        <p:spPr>
          <a:xfrm>
            <a:off x="512064" y="109442"/>
            <a:ext cx="7147236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Training Step 1: Learn Class Probabilities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5495925" y="4809134"/>
            <a:ext cx="3718941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These class probabilities are stored and reused during prediction.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572125" y="1832762"/>
            <a:ext cx="1721510" cy="878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Play = </a:t>
            </a:r>
            <a:r>
              <a:rPr lang="en-US" sz="1599" b="1">
                <a:solidFill>
                  <a:srgbClr val="00B050"/>
                </a:solidFill>
                <a:latin typeface="Arial Bold"/>
                <a:ea typeface="Arial Bold"/>
                <a:cs typeface="Arial Bold"/>
                <a:sym typeface="Arial Bold"/>
              </a:rPr>
              <a:t>Yes</a:t>
            </a: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6 rows Play = </a:t>
            </a:r>
            <a:r>
              <a:rPr lang="en-US" sz="1599" b="1">
                <a:solidFill>
                  <a:srgbClr val="9C2D2D"/>
                </a:solidFill>
                <a:latin typeface="Arial Bold"/>
                <a:ea typeface="Arial Bold"/>
                <a:cs typeface="Arial Bold"/>
                <a:sym typeface="Arial Bold"/>
              </a:rPr>
              <a:t>No</a:t>
            </a: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 4 rows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495925" y="2866034"/>
            <a:ext cx="3857387" cy="133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Class probabilities learned during training:</a:t>
            </a:r>
          </a:p>
          <a:p>
            <a:pPr algn="l">
              <a:lnSpc>
                <a:spcPts val="360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P(Yes) = 6 / 10 = 0.60</a:t>
            </a:r>
          </a:p>
          <a:p>
            <a:pPr algn="l">
              <a:lnSpc>
                <a:spcPts val="360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P(No) = 4 / 10 = 0.40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78205" y="1284218"/>
            <a:ext cx="144940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Training data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495925" y="1448810"/>
            <a:ext cx="235550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Count the Play labels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980351" y="1818551"/>
            <a:ext cx="285093" cy="276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Day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  <a:p>
            <a:pPr algn="ctr">
              <a:lnSpc>
                <a:spcPts val="2088"/>
              </a:lnSpc>
              <a:spcBef>
                <a:spcPts val="2025"/>
              </a:spcBef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  <a:p>
            <a:pPr algn="ctr">
              <a:lnSpc>
                <a:spcPts val="2088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  <a:p>
            <a:pPr algn="ctr">
              <a:lnSpc>
                <a:spcPts val="2088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  <a:p>
            <a:pPr algn="ctr">
              <a:lnSpc>
                <a:spcPts val="2088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  <a:p>
            <a:pPr algn="ctr">
              <a:lnSpc>
                <a:spcPts val="2088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  <a:p>
            <a:pPr algn="ctr">
              <a:lnSpc>
                <a:spcPts val="2088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  <a:p>
            <a:pPr algn="ctr">
              <a:lnSpc>
                <a:spcPts val="2088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algn="ctr">
              <a:lnSpc>
                <a:spcPts val="2088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9 10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620984" y="1818551"/>
            <a:ext cx="610133" cy="276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Weather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Sunny</a:t>
            </a:r>
          </a:p>
          <a:p>
            <a:pPr algn="ctr">
              <a:lnSpc>
                <a:spcPts val="2088"/>
              </a:lnSpc>
              <a:spcBef>
                <a:spcPts val="2025"/>
              </a:spcBef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Sunny Rainy Sunny Cloudy Rainy Sunny Cloudy Rainy Sunny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2751372" y="1818551"/>
            <a:ext cx="402765" cy="276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Temp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Mild</a:t>
            </a:r>
          </a:p>
          <a:p>
            <a:pPr algn="ctr">
              <a:lnSpc>
                <a:spcPts val="2088"/>
              </a:lnSpc>
              <a:spcBef>
                <a:spcPts val="2025"/>
              </a:spcBef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Hot Mild Mild Mild Hot Cool Hot Mild Mild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3615147" y="1818551"/>
            <a:ext cx="319449" cy="2766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Play </a:t>
            </a:r>
            <a:r>
              <a:rPr lang="en-US" sz="12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  <a:p>
            <a:pPr algn="ctr">
              <a:lnSpc>
                <a:spcPts val="2088"/>
              </a:lnSpc>
              <a:spcBef>
                <a:spcPts val="2025"/>
              </a:spcBef>
            </a:pPr>
            <a:r>
              <a:rPr lang="en-US" sz="1200">
                <a:solidFill>
                  <a:srgbClr val="9C2D2D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12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Yes Yes Yes </a:t>
            </a:r>
            <a:r>
              <a:rPr lang="en-US" sz="1200">
                <a:solidFill>
                  <a:srgbClr val="9C2D2D"/>
                </a:solidFill>
                <a:latin typeface="Arial"/>
                <a:ea typeface="Arial"/>
                <a:cs typeface="Arial"/>
                <a:sym typeface="Arial"/>
              </a:rPr>
              <a:t>No No </a:t>
            </a:r>
            <a:r>
              <a:rPr lang="en-US" sz="12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Yes Yes </a:t>
            </a:r>
            <a:r>
              <a:rPr lang="en-US" sz="1200">
                <a:solidFill>
                  <a:srgbClr val="9C2D2D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5800" y="1234440"/>
            <a:ext cx="3474720" cy="320040"/>
          </a:xfrm>
          <a:custGeom>
            <a:avLst/>
            <a:gdLst/>
            <a:ahLst/>
            <a:cxnLst/>
            <a:rect l="l" t="t" r="r" b="b"/>
            <a:pathLst>
              <a:path w="3474720" h="320040">
                <a:moveTo>
                  <a:pt x="0" y="0"/>
                </a:moveTo>
                <a:lnTo>
                  <a:pt x="3474720" y="0"/>
                </a:lnTo>
                <a:lnTo>
                  <a:pt x="347472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40728" y="1578121"/>
            <a:ext cx="529066" cy="337042"/>
            <a:chOff x="0" y="0"/>
            <a:chExt cx="705422" cy="4493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617230" y="1531630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56142" y="1531630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970542" y="1531630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79640" y="1578121"/>
            <a:ext cx="2357866" cy="337042"/>
            <a:chOff x="0" y="0"/>
            <a:chExt cx="3143822" cy="4493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2756926" y="1531630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40728" y="1825009"/>
            <a:ext cx="529066" cy="337042"/>
            <a:chOff x="0" y="0"/>
            <a:chExt cx="705422" cy="4493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617230" y="1778518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56142" y="1778518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970542" y="1778518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079640" y="1825009"/>
            <a:ext cx="2357866" cy="337042"/>
            <a:chOff x="0" y="0"/>
            <a:chExt cx="3143822" cy="4493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2756926" y="1778518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640728" y="2071897"/>
            <a:ext cx="529066" cy="337042"/>
            <a:chOff x="0" y="0"/>
            <a:chExt cx="705422" cy="4493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617230" y="2025406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56142" y="2025406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970542" y="2025406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079640" y="2071897"/>
            <a:ext cx="2357866" cy="337042"/>
            <a:chOff x="0" y="0"/>
            <a:chExt cx="3143822" cy="44939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>
            <a:off x="2756926" y="2025406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640728" y="2318785"/>
            <a:ext cx="529066" cy="337042"/>
            <a:chOff x="0" y="0"/>
            <a:chExt cx="705422" cy="4493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34" name="Freeform 34"/>
          <p:cNvSpPr/>
          <p:nvPr/>
        </p:nvSpPr>
        <p:spPr>
          <a:xfrm>
            <a:off x="617230" y="2272294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056142" y="2272294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970542" y="2272294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1079640" y="2318785"/>
            <a:ext cx="2357866" cy="337042"/>
            <a:chOff x="0" y="0"/>
            <a:chExt cx="3143822" cy="4493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39" name="Freeform 39"/>
          <p:cNvSpPr/>
          <p:nvPr/>
        </p:nvSpPr>
        <p:spPr>
          <a:xfrm>
            <a:off x="2756926" y="2272294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640728" y="2565673"/>
            <a:ext cx="529066" cy="337042"/>
            <a:chOff x="0" y="0"/>
            <a:chExt cx="705422" cy="44939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617230" y="2519182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056142" y="2519182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970542" y="2519182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1079640" y="2565673"/>
            <a:ext cx="2357866" cy="337042"/>
            <a:chOff x="0" y="0"/>
            <a:chExt cx="3143822" cy="44939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47" name="Freeform 47"/>
          <p:cNvSpPr/>
          <p:nvPr/>
        </p:nvSpPr>
        <p:spPr>
          <a:xfrm>
            <a:off x="2756926" y="2519182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640728" y="2812561"/>
            <a:ext cx="529066" cy="337042"/>
            <a:chOff x="0" y="0"/>
            <a:chExt cx="705422" cy="44939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50" name="Freeform 50"/>
          <p:cNvSpPr/>
          <p:nvPr/>
        </p:nvSpPr>
        <p:spPr>
          <a:xfrm>
            <a:off x="617230" y="2766070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056142" y="2766070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970542" y="2766070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53" name="Group 53"/>
          <p:cNvGrpSpPr/>
          <p:nvPr/>
        </p:nvGrpSpPr>
        <p:grpSpPr>
          <a:xfrm>
            <a:off x="1079640" y="2812561"/>
            <a:ext cx="2357866" cy="337042"/>
            <a:chOff x="0" y="0"/>
            <a:chExt cx="3143822" cy="44939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55" name="Freeform 55"/>
          <p:cNvSpPr/>
          <p:nvPr/>
        </p:nvSpPr>
        <p:spPr>
          <a:xfrm>
            <a:off x="2756926" y="2766070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640728" y="3059449"/>
            <a:ext cx="529066" cy="337042"/>
            <a:chOff x="0" y="0"/>
            <a:chExt cx="705422" cy="44939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58" name="Freeform 58"/>
          <p:cNvSpPr/>
          <p:nvPr/>
        </p:nvSpPr>
        <p:spPr>
          <a:xfrm>
            <a:off x="617230" y="3012958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056142" y="3012958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970542" y="3012958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61" name="Group 61"/>
          <p:cNvGrpSpPr/>
          <p:nvPr/>
        </p:nvGrpSpPr>
        <p:grpSpPr>
          <a:xfrm>
            <a:off x="1079640" y="3059449"/>
            <a:ext cx="2357866" cy="337042"/>
            <a:chOff x="0" y="0"/>
            <a:chExt cx="3143822" cy="44939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63" name="Freeform 63"/>
          <p:cNvSpPr/>
          <p:nvPr/>
        </p:nvSpPr>
        <p:spPr>
          <a:xfrm>
            <a:off x="2756926" y="3012958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64" name="Group 64"/>
          <p:cNvGrpSpPr/>
          <p:nvPr/>
        </p:nvGrpSpPr>
        <p:grpSpPr>
          <a:xfrm>
            <a:off x="640728" y="3306337"/>
            <a:ext cx="529066" cy="337042"/>
            <a:chOff x="0" y="0"/>
            <a:chExt cx="705422" cy="44939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66" name="Freeform 66"/>
          <p:cNvSpPr/>
          <p:nvPr/>
        </p:nvSpPr>
        <p:spPr>
          <a:xfrm>
            <a:off x="617230" y="3259846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67" name="Freeform 67"/>
          <p:cNvSpPr/>
          <p:nvPr/>
        </p:nvSpPr>
        <p:spPr>
          <a:xfrm>
            <a:off x="1056142" y="3259846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1970542" y="3259846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69" name="Group 69"/>
          <p:cNvGrpSpPr/>
          <p:nvPr/>
        </p:nvGrpSpPr>
        <p:grpSpPr>
          <a:xfrm>
            <a:off x="1079640" y="3306337"/>
            <a:ext cx="2357866" cy="337042"/>
            <a:chOff x="0" y="0"/>
            <a:chExt cx="3143822" cy="44939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71" name="Freeform 71"/>
          <p:cNvSpPr/>
          <p:nvPr/>
        </p:nvSpPr>
        <p:spPr>
          <a:xfrm>
            <a:off x="2756926" y="3259846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72" name="Group 72"/>
          <p:cNvGrpSpPr/>
          <p:nvPr/>
        </p:nvGrpSpPr>
        <p:grpSpPr>
          <a:xfrm>
            <a:off x="640728" y="3553225"/>
            <a:ext cx="529066" cy="337042"/>
            <a:chOff x="0" y="0"/>
            <a:chExt cx="705422" cy="44939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74" name="Freeform 74"/>
          <p:cNvSpPr/>
          <p:nvPr/>
        </p:nvSpPr>
        <p:spPr>
          <a:xfrm>
            <a:off x="617230" y="3506734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75" name="Freeform 75"/>
          <p:cNvSpPr/>
          <p:nvPr/>
        </p:nvSpPr>
        <p:spPr>
          <a:xfrm>
            <a:off x="1056142" y="3506734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76"/>
          <p:cNvSpPr/>
          <p:nvPr/>
        </p:nvSpPr>
        <p:spPr>
          <a:xfrm>
            <a:off x="1970542" y="3506734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77" name="Group 77"/>
          <p:cNvGrpSpPr/>
          <p:nvPr/>
        </p:nvGrpSpPr>
        <p:grpSpPr>
          <a:xfrm>
            <a:off x="1079640" y="3553225"/>
            <a:ext cx="2357866" cy="337042"/>
            <a:chOff x="0" y="0"/>
            <a:chExt cx="3143822" cy="44939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79" name="Freeform 79"/>
          <p:cNvSpPr/>
          <p:nvPr/>
        </p:nvSpPr>
        <p:spPr>
          <a:xfrm>
            <a:off x="2756926" y="3506734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80" name="Group 80"/>
          <p:cNvGrpSpPr/>
          <p:nvPr/>
        </p:nvGrpSpPr>
        <p:grpSpPr>
          <a:xfrm>
            <a:off x="640728" y="3800113"/>
            <a:ext cx="529066" cy="337042"/>
            <a:chOff x="0" y="0"/>
            <a:chExt cx="705422" cy="44939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82" name="Freeform 82"/>
          <p:cNvSpPr/>
          <p:nvPr/>
        </p:nvSpPr>
        <p:spPr>
          <a:xfrm>
            <a:off x="617230" y="3753612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83"/>
          <p:cNvSpPr/>
          <p:nvPr/>
        </p:nvSpPr>
        <p:spPr>
          <a:xfrm>
            <a:off x="1056142" y="3753612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84"/>
          <p:cNvSpPr/>
          <p:nvPr/>
        </p:nvSpPr>
        <p:spPr>
          <a:xfrm>
            <a:off x="1970542" y="3753612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85" name="Group 85"/>
          <p:cNvGrpSpPr/>
          <p:nvPr/>
        </p:nvGrpSpPr>
        <p:grpSpPr>
          <a:xfrm>
            <a:off x="1079640" y="3800113"/>
            <a:ext cx="2357866" cy="337042"/>
            <a:chOff x="0" y="0"/>
            <a:chExt cx="3143822" cy="44939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87" name="Freeform 87"/>
          <p:cNvSpPr/>
          <p:nvPr/>
        </p:nvSpPr>
        <p:spPr>
          <a:xfrm>
            <a:off x="2756926" y="3753612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88" name="Group 88"/>
          <p:cNvGrpSpPr/>
          <p:nvPr/>
        </p:nvGrpSpPr>
        <p:grpSpPr>
          <a:xfrm>
            <a:off x="640728" y="4047001"/>
            <a:ext cx="529066" cy="337042"/>
            <a:chOff x="0" y="0"/>
            <a:chExt cx="705422" cy="44939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705358" cy="449326"/>
            </a:xfrm>
            <a:custGeom>
              <a:avLst/>
              <a:gdLst/>
              <a:ahLst/>
              <a:cxnLst/>
              <a:rect l="l" t="t" r="r" b="b"/>
              <a:pathLst>
                <a:path w="705358" h="449326">
                  <a:moveTo>
                    <a:pt x="0" y="0"/>
                  </a:moveTo>
                  <a:lnTo>
                    <a:pt x="705358" y="0"/>
                  </a:lnTo>
                  <a:lnTo>
                    <a:pt x="7053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9" b="-14"/>
              </a:stretch>
            </a:blipFill>
          </p:spPr>
        </p:sp>
      </p:grpSp>
      <p:sp>
        <p:nvSpPr>
          <p:cNvPr id="90" name="Freeform 90"/>
          <p:cNvSpPr/>
          <p:nvPr/>
        </p:nvSpPr>
        <p:spPr>
          <a:xfrm>
            <a:off x="617230" y="4000510"/>
            <a:ext cx="576062" cy="384038"/>
          </a:xfrm>
          <a:custGeom>
            <a:avLst/>
            <a:gdLst/>
            <a:ahLst/>
            <a:cxnLst/>
            <a:rect l="l" t="t" r="r" b="b"/>
            <a:pathLst>
              <a:path w="576062" h="384038">
                <a:moveTo>
                  <a:pt x="0" y="0"/>
                </a:moveTo>
                <a:lnTo>
                  <a:pt x="576062" y="0"/>
                </a:lnTo>
                <a:lnTo>
                  <a:pt x="576062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91" name="Freeform 91"/>
          <p:cNvSpPr/>
          <p:nvPr/>
        </p:nvSpPr>
        <p:spPr>
          <a:xfrm>
            <a:off x="1056142" y="4000510"/>
            <a:ext cx="1051550" cy="384038"/>
          </a:xfrm>
          <a:custGeom>
            <a:avLst/>
            <a:gdLst/>
            <a:ahLst/>
            <a:cxnLst/>
            <a:rect l="l" t="t" r="r" b="b"/>
            <a:pathLst>
              <a:path w="1051550" h="384038">
                <a:moveTo>
                  <a:pt x="0" y="0"/>
                </a:moveTo>
                <a:lnTo>
                  <a:pt x="1051550" y="0"/>
                </a:lnTo>
                <a:lnTo>
                  <a:pt x="1051550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92" name="Freeform 92"/>
          <p:cNvSpPr/>
          <p:nvPr/>
        </p:nvSpPr>
        <p:spPr>
          <a:xfrm>
            <a:off x="1970542" y="4000510"/>
            <a:ext cx="923534" cy="384038"/>
          </a:xfrm>
          <a:custGeom>
            <a:avLst/>
            <a:gdLst/>
            <a:ahLst/>
            <a:cxnLst/>
            <a:rect l="l" t="t" r="r" b="b"/>
            <a:pathLst>
              <a:path w="923534" h="384038">
                <a:moveTo>
                  <a:pt x="0" y="0"/>
                </a:moveTo>
                <a:lnTo>
                  <a:pt x="923534" y="0"/>
                </a:lnTo>
                <a:lnTo>
                  <a:pt x="923534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93" name="Group 93"/>
          <p:cNvGrpSpPr/>
          <p:nvPr/>
        </p:nvGrpSpPr>
        <p:grpSpPr>
          <a:xfrm>
            <a:off x="1079640" y="4047001"/>
            <a:ext cx="2357866" cy="337042"/>
            <a:chOff x="0" y="0"/>
            <a:chExt cx="3143822" cy="44939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143758" cy="449326"/>
            </a:xfrm>
            <a:custGeom>
              <a:avLst/>
              <a:gdLst/>
              <a:ahLst/>
              <a:cxnLst/>
              <a:rect l="l" t="t" r="r" b="b"/>
              <a:pathLst>
                <a:path w="3143758" h="449326">
                  <a:moveTo>
                    <a:pt x="0" y="0"/>
                  </a:moveTo>
                  <a:lnTo>
                    <a:pt x="3143758" y="0"/>
                  </a:lnTo>
                  <a:lnTo>
                    <a:pt x="3143758" y="449326"/>
                  </a:lnTo>
                  <a:lnTo>
                    <a:pt x="0" y="44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2" b="-14"/>
              </a:stretch>
            </a:blipFill>
          </p:spPr>
        </p:sp>
      </p:grpSp>
      <p:sp>
        <p:nvSpPr>
          <p:cNvPr id="95" name="Freeform 95"/>
          <p:cNvSpPr/>
          <p:nvPr/>
        </p:nvSpPr>
        <p:spPr>
          <a:xfrm>
            <a:off x="2756926" y="4000510"/>
            <a:ext cx="704078" cy="384038"/>
          </a:xfrm>
          <a:custGeom>
            <a:avLst/>
            <a:gdLst/>
            <a:ahLst/>
            <a:cxnLst/>
            <a:rect l="l" t="t" r="r" b="b"/>
            <a:pathLst>
              <a:path w="704078" h="384038">
                <a:moveTo>
                  <a:pt x="0" y="0"/>
                </a:moveTo>
                <a:lnTo>
                  <a:pt x="704078" y="0"/>
                </a:lnTo>
                <a:lnTo>
                  <a:pt x="704078" y="384038"/>
                </a:lnTo>
                <a:lnTo>
                  <a:pt x="0" y="38403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96" name="Freeform 96"/>
          <p:cNvSpPr/>
          <p:nvPr/>
        </p:nvSpPr>
        <p:spPr>
          <a:xfrm>
            <a:off x="3794760" y="1143000"/>
            <a:ext cx="3291840" cy="320040"/>
          </a:xfrm>
          <a:custGeom>
            <a:avLst/>
            <a:gdLst/>
            <a:ahLst/>
            <a:cxnLst/>
            <a:rect l="l" t="t" r="r" b="b"/>
            <a:pathLst>
              <a:path w="3291840" h="320040">
                <a:moveTo>
                  <a:pt x="0" y="0"/>
                </a:moveTo>
                <a:lnTo>
                  <a:pt x="3291840" y="0"/>
                </a:lnTo>
                <a:lnTo>
                  <a:pt x="329184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grpSp>
        <p:nvGrpSpPr>
          <p:cNvPr id="97" name="Group 97"/>
          <p:cNvGrpSpPr/>
          <p:nvPr/>
        </p:nvGrpSpPr>
        <p:grpSpPr>
          <a:xfrm>
            <a:off x="3749688" y="1486681"/>
            <a:ext cx="1141714" cy="401050"/>
            <a:chOff x="0" y="0"/>
            <a:chExt cx="1522286" cy="53473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522222" cy="534670"/>
            </a:xfrm>
            <a:custGeom>
              <a:avLst/>
              <a:gdLst/>
              <a:ahLst/>
              <a:cxnLst/>
              <a:rect l="l" t="t" r="r" b="b"/>
              <a:pathLst>
                <a:path w="1522222" h="534670">
                  <a:moveTo>
                    <a:pt x="0" y="0"/>
                  </a:moveTo>
                  <a:lnTo>
                    <a:pt x="1522222" y="0"/>
                  </a:lnTo>
                  <a:lnTo>
                    <a:pt x="152222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r="-4" b="-11"/>
              </a:stretch>
            </a:blipFill>
          </p:spPr>
        </p:sp>
      </p:grpSp>
      <p:sp>
        <p:nvSpPr>
          <p:cNvPr id="99" name="Freeform 99"/>
          <p:cNvSpPr/>
          <p:nvPr/>
        </p:nvSpPr>
        <p:spPr>
          <a:xfrm>
            <a:off x="3726190" y="1440190"/>
            <a:ext cx="1188710" cy="448046"/>
          </a:xfrm>
          <a:custGeom>
            <a:avLst/>
            <a:gdLst/>
            <a:ahLst/>
            <a:cxnLst/>
            <a:rect l="l" t="t" r="r" b="b"/>
            <a:pathLst>
              <a:path w="1188710" h="448046">
                <a:moveTo>
                  <a:pt x="0" y="0"/>
                </a:moveTo>
                <a:lnTo>
                  <a:pt x="1188710" y="0"/>
                </a:lnTo>
                <a:lnTo>
                  <a:pt x="118871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100" name="Freeform 100"/>
          <p:cNvSpPr/>
          <p:nvPr/>
        </p:nvSpPr>
        <p:spPr>
          <a:xfrm>
            <a:off x="4777750" y="1440190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grpSp>
        <p:nvGrpSpPr>
          <p:cNvPr id="101" name="Group 101"/>
          <p:cNvGrpSpPr/>
          <p:nvPr/>
        </p:nvGrpSpPr>
        <p:grpSpPr>
          <a:xfrm>
            <a:off x="4801248" y="1486681"/>
            <a:ext cx="2101834" cy="401050"/>
            <a:chOff x="0" y="0"/>
            <a:chExt cx="2802446" cy="534734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03" name="Freeform 103"/>
          <p:cNvSpPr/>
          <p:nvPr/>
        </p:nvSpPr>
        <p:spPr>
          <a:xfrm>
            <a:off x="5783590" y="1440190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grpSp>
        <p:nvGrpSpPr>
          <p:cNvPr id="104" name="Group 104"/>
          <p:cNvGrpSpPr/>
          <p:nvPr/>
        </p:nvGrpSpPr>
        <p:grpSpPr>
          <a:xfrm>
            <a:off x="3749688" y="1797577"/>
            <a:ext cx="1141714" cy="401050"/>
            <a:chOff x="0" y="0"/>
            <a:chExt cx="1522286" cy="53473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522222" cy="534670"/>
            </a:xfrm>
            <a:custGeom>
              <a:avLst/>
              <a:gdLst/>
              <a:ahLst/>
              <a:cxnLst/>
              <a:rect l="l" t="t" r="r" b="b"/>
              <a:pathLst>
                <a:path w="1522222" h="534670">
                  <a:moveTo>
                    <a:pt x="0" y="0"/>
                  </a:moveTo>
                  <a:lnTo>
                    <a:pt x="1522222" y="0"/>
                  </a:lnTo>
                  <a:lnTo>
                    <a:pt x="152222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r="-4" b="-11"/>
              </a:stretch>
            </a:blipFill>
          </p:spPr>
        </p:sp>
      </p:grpSp>
      <p:sp>
        <p:nvSpPr>
          <p:cNvPr id="106" name="Freeform 106"/>
          <p:cNvSpPr/>
          <p:nvPr/>
        </p:nvSpPr>
        <p:spPr>
          <a:xfrm>
            <a:off x="3726190" y="1751086"/>
            <a:ext cx="1188710" cy="448046"/>
          </a:xfrm>
          <a:custGeom>
            <a:avLst/>
            <a:gdLst/>
            <a:ahLst/>
            <a:cxnLst/>
            <a:rect l="l" t="t" r="r" b="b"/>
            <a:pathLst>
              <a:path w="1188710" h="448046">
                <a:moveTo>
                  <a:pt x="0" y="0"/>
                </a:moveTo>
                <a:lnTo>
                  <a:pt x="1188710" y="0"/>
                </a:lnTo>
                <a:lnTo>
                  <a:pt x="118871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107" name="Freeform 107"/>
          <p:cNvSpPr/>
          <p:nvPr/>
        </p:nvSpPr>
        <p:spPr>
          <a:xfrm>
            <a:off x="4777750" y="1751086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08" name="Group 108"/>
          <p:cNvGrpSpPr/>
          <p:nvPr/>
        </p:nvGrpSpPr>
        <p:grpSpPr>
          <a:xfrm>
            <a:off x="4801248" y="1797577"/>
            <a:ext cx="2101834" cy="401050"/>
            <a:chOff x="0" y="0"/>
            <a:chExt cx="2802446" cy="534734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10" name="Freeform 110"/>
          <p:cNvSpPr/>
          <p:nvPr/>
        </p:nvSpPr>
        <p:spPr>
          <a:xfrm>
            <a:off x="5783590" y="1751086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11" name="Group 111"/>
          <p:cNvGrpSpPr/>
          <p:nvPr/>
        </p:nvGrpSpPr>
        <p:grpSpPr>
          <a:xfrm>
            <a:off x="3749688" y="2108473"/>
            <a:ext cx="1141714" cy="401050"/>
            <a:chOff x="0" y="0"/>
            <a:chExt cx="1522286" cy="534734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522222" cy="534670"/>
            </a:xfrm>
            <a:custGeom>
              <a:avLst/>
              <a:gdLst/>
              <a:ahLst/>
              <a:cxnLst/>
              <a:rect l="l" t="t" r="r" b="b"/>
              <a:pathLst>
                <a:path w="1522222" h="534670">
                  <a:moveTo>
                    <a:pt x="0" y="0"/>
                  </a:moveTo>
                  <a:lnTo>
                    <a:pt x="1522222" y="0"/>
                  </a:lnTo>
                  <a:lnTo>
                    <a:pt x="152222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r="-4" b="-11"/>
              </a:stretch>
            </a:blipFill>
          </p:spPr>
        </p:sp>
      </p:grpSp>
      <p:sp>
        <p:nvSpPr>
          <p:cNvPr id="113" name="Freeform 113"/>
          <p:cNvSpPr/>
          <p:nvPr/>
        </p:nvSpPr>
        <p:spPr>
          <a:xfrm>
            <a:off x="3726190" y="2061982"/>
            <a:ext cx="1188710" cy="448046"/>
          </a:xfrm>
          <a:custGeom>
            <a:avLst/>
            <a:gdLst/>
            <a:ahLst/>
            <a:cxnLst/>
            <a:rect l="l" t="t" r="r" b="b"/>
            <a:pathLst>
              <a:path w="1188710" h="448046">
                <a:moveTo>
                  <a:pt x="0" y="0"/>
                </a:moveTo>
                <a:lnTo>
                  <a:pt x="1188710" y="0"/>
                </a:lnTo>
                <a:lnTo>
                  <a:pt x="118871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114" name="Freeform 114"/>
          <p:cNvSpPr/>
          <p:nvPr/>
        </p:nvSpPr>
        <p:spPr>
          <a:xfrm>
            <a:off x="4777750" y="2061982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15" name="Group 115"/>
          <p:cNvGrpSpPr/>
          <p:nvPr/>
        </p:nvGrpSpPr>
        <p:grpSpPr>
          <a:xfrm>
            <a:off x="4801248" y="2108473"/>
            <a:ext cx="2101834" cy="401050"/>
            <a:chOff x="0" y="0"/>
            <a:chExt cx="2802446" cy="534734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17" name="Freeform 117"/>
          <p:cNvSpPr/>
          <p:nvPr/>
        </p:nvSpPr>
        <p:spPr>
          <a:xfrm>
            <a:off x="5783590" y="2061982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18" name="Group 118"/>
          <p:cNvGrpSpPr/>
          <p:nvPr/>
        </p:nvGrpSpPr>
        <p:grpSpPr>
          <a:xfrm>
            <a:off x="3749688" y="2419369"/>
            <a:ext cx="1141714" cy="401050"/>
            <a:chOff x="0" y="0"/>
            <a:chExt cx="1522286" cy="534734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522222" cy="534670"/>
            </a:xfrm>
            <a:custGeom>
              <a:avLst/>
              <a:gdLst/>
              <a:ahLst/>
              <a:cxnLst/>
              <a:rect l="l" t="t" r="r" b="b"/>
              <a:pathLst>
                <a:path w="1522222" h="534670">
                  <a:moveTo>
                    <a:pt x="0" y="0"/>
                  </a:moveTo>
                  <a:lnTo>
                    <a:pt x="1522222" y="0"/>
                  </a:lnTo>
                  <a:lnTo>
                    <a:pt x="152222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r="-4" b="-11"/>
              </a:stretch>
            </a:blipFill>
          </p:spPr>
        </p:sp>
      </p:grpSp>
      <p:sp>
        <p:nvSpPr>
          <p:cNvPr id="120" name="Freeform 120"/>
          <p:cNvSpPr/>
          <p:nvPr/>
        </p:nvSpPr>
        <p:spPr>
          <a:xfrm>
            <a:off x="3726190" y="2372878"/>
            <a:ext cx="1188710" cy="448046"/>
          </a:xfrm>
          <a:custGeom>
            <a:avLst/>
            <a:gdLst/>
            <a:ahLst/>
            <a:cxnLst/>
            <a:rect l="l" t="t" r="r" b="b"/>
            <a:pathLst>
              <a:path w="1188710" h="448046">
                <a:moveTo>
                  <a:pt x="0" y="0"/>
                </a:moveTo>
                <a:lnTo>
                  <a:pt x="1188710" y="0"/>
                </a:lnTo>
                <a:lnTo>
                  <a:pt x="118871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4777750" y="2372878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22" name="Group 122"/>
          <p:cNvGrpSpPr/>
          <p:nvPr/>
        </p:nvGrpSpPr>
        <p:grpSpPr>
          <a:xfrm>
            <a:off x="4801248" y="2419369"/>
            <a:ext cx="2101834" cy="401050"/>
            <a:chOff x="0" y="0"/>
            <a:chExt cx="2802446" cy="534734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24" name="Freeform 124"/>
          <p:cNvSpPr/>
          <p:nvPr/>
        </p:nvSpPr>
        <p:spPr>
          <a:xfrm>
            <a:off x="3794760" y="2971800"/>
            <a:ext cx="3108960" cy="548640"/>
          </a:xfrm>
          <a:custGeom>
            <a:avLst/>
            <a:gdLst/>
            <a:ahLst/>
            <a:cxnLst/>
            <a:rect l="l" t="t" r="r" b="b"/>
            <a:pathLst>
              <a:path w="3108960" h="548640">
                <a:moveTo>
                  <a:pt x="0" y="0"/>
                </a:moveTo>
                <a:lnTo>
                  <a:pt x="3108960" y="0"/>
                </a:lnTo>
                <a:lnTo>
                  <a:pt x="310896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</p:sp>
      <p:sp>
        <p:nvSpPr>
          <p:cNvPr id="125" name="Freeform 125"/>
          <p:cNvSpPr/>
          <p:nvPr/>
        </p:nvSpPr>
        <p:spPr>
          <a:xfrm>
            <a:off x="5783590" y="2372878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126" name="Freeform 126"/>
          <p:cNvSpPr/>
          <p:nvPr/>
        </p:nvSpPr>
        <p:spPr>
          <a:xfrm>
            <a:off x="7360920" y="1143000"/>
            <a:ext cx="3291840" cy="320040"/>
          </a:xfrm>
          <a:custGeom>
            <a:avLst/>
            <a:gdLst/>
            <a:ahLst/>
            <a:cxnLst/>
            <a:rect l="l" t="t" r="r" b="b"/>
            <a:pathLst>
              <a:path w="3291840" h="320040">
                <a:moveTo>
                  <a:pt x="0" y="0"/>
                </a:moveTo>
                <a:lnTo>
                  <a:pt x="3291840" y="0"/>
                </a:lnTo>
                <a:lnTo>
                  <a:pt x="329184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grpSp>
        <p:nvGrpSpPr>
          <p:cNvPr id="127" name="Group 127"/>
          <p:cNvGrpSpPr/>
          <p:nvPr/>
        </p:nvGrpSpPr>
        <p:grpSpPr>
          <a:xfrm>
            <a:off x="7315848" y="1486681"/>
            <a:ext cx="1050274" cy="401050"/>
            <a:chOff x="0" y="0"/>
            <a:chExt cx="1400366" cy="534734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400302" cy="534670"/>
            </a:xfrm>
            <a:custGeom>
              <a:avLst/>
              <a:gdLst/>
              <a:ahLst/>
              <a:cxnLst/>
              <a:rect l="l" t="t" r="r" b="b"/>
              <a:pathLst>
                <a:path w="1400302" h="534670">
                  <a:moveTo>
                    <a:pt x="0" y="0"/>
                  </a:moveTo>
                  <a:lnTo>
                    <a:pt x="1400302" y="0"/>
                  </a:lnTo>
                  <a:lnTo>
                    <a:pt x="140030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r="-4" b="-11"/>
              </a:stretch>
            </a:blipFill>
          </p:spPr>
        </p:sp>
      </p:grpSp>
      <p:sp>
        <p:nvSpPr>
          <p:cNvPr id="129" name="Freeform 129"/>
          <p:cNvSpPr/>
          <p:nvPr/>
        </p:nvSpPr>
        <p:spPr>
          <a:xfrm>
            <a:off x="7292350" y="1440190"/>
            <a:ext cx="1097270" cy="448046"/>
          </a:xfrm>
          <a:custGeom>
            <a:avLst/>
            <a:gdLst/>
            <a:ahLst/>
            <a:cxnLst/>
            <a:rect l="l" t="t" r="r" b="b"/>
            <a:pathLst>
              <a:path w="1097270" h="448046">
                <a:moveTo>
                  <a:pt x="0" y="0"/>
                </a:moveTo>
                <a:lnTo>
                  <a:pt x="1097270" y="0"/>
                </a:lnTo>
                <a:lnTo>
                  <a:pt x="109727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</p:spPr>
      </p:sp>
      <p:sp>
        <p:nvSpPr>
          <p:cNvPr id="130" name="Freeform 130"/>
          <p:cNvSpPr/>
          <p:nvPr/>
        </p:nvSpPr>
        <p:spPr>
          <a:xfrm>
            <a:off x="8252470" y="1440190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grpSp>
        <p:nvGrpSpPr>
          <p:cNvPr id="131" name="Group 131"/>
          <p:cNvGrpSpPr/>
          <p:nvPr/>
        </p:nvGrpSpPr>
        <p:grpSpPr>
          <a:xfrm>
            <a:off x="8275968" y="1486681"/>
            <a:ext cx="2101834" cy="401050"/>
            <a:chOff x="0" y="0"/>
            <a:chExt cx="2802446" cy="534734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33" name="Freeform 133"/>
          <p:cNvSpPr/>
          <p:nvPr/>
        </p:nvSpPr>
        <p:spPr>
          <a:xfrm>
            <a:off x="9258300" y="1440190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grpSp>
        <p:nvGrpSpPr>
          <p:cNvPr id="134" name="Group 134"/>
          <p:cNvGrpSpPr/>
          <p:nvPr/>
        </p:nvGrpSpPr>
        <p:grpSpPr>
          <a:xfrm>
            <a:off x="7315848" y="1797577"/>
            <a:ext cx="1050274" cy="401050"/>
            <a:chOff x="0" y="0"/>
            <a:chExt cx="1400366" cy="534734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400302" cy="534670"/>
            </a:xfrm>
            <a:custGeom>
              <a:avLst/>
              <a:gdLst/>
              <a:ahLst/>
              <a:cxnLst/>
              <a:rect l="l" t="t" r="r" b="b"/>
              <a:pathLst>
                <a:path w="1400302" h="534670">
                  <a:moveTo>
                    <a:pt x="0" y="0"/>
                  </a:moveTo>
                  <a:lnTo>
                    <a:pt x="1400302" y="0"/>
                  </a:lnTo>
                  <a:lnTo>
                    <a:pt x="140030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r="-4" b="-11"/>
              </a:stretch>
            </a:blipFill>
          </p:spPr>
        </p:sp>
      </p:grpSp>
      <p:sp>
        <p:nvSpPr>
          <p:cNvPr id="136" name="Freeform 136"/>
          <p:cNvSpPr/>
          <p:nvPr/>
        </p:nvSpPr>
        <p:spPr>
          <a:xfrm>
            <a:off x="7292350" y="1751086"/>
            <a:ext cx="1097270" cy="448046"/>
          </a:xfrm>
          <a:custGeom>
            <a:avLst/>
            <a:gdLst/>
            <a:ahLst/>
            <a:cxnLst/>
            <a:rect l="l" t="t" r="r" b="b"/>
            <a:pathLst>
              <a:path w="1097270" h="448046">
                <a:moveTo>
                  <a:pt x="0" y="0"/>
                </a:moveTo>
                <a:lnTo>
                  <a:pt x="1097270" y="0"/>
                </a:lnTo>
                <a:lnTo>
                  <a:pt x="109727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</p:spPr>
      </p:sp>
      <p:sp>
        <p:nvSpPr>
          <p:cNvPr id="137" name="Freeform 137"/>
          <p:cNvSpPr/>
          <p:nvPr/>
        </p:nvSpPr>
        <p:spPr>
          <a:xfrm>
            <a:off x="8252470" y="1751086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38" name="Group 138"/>
          <p:cNvGrpSpPr/>
          <p:nvPr/>
        </p:nvGrpSpPr>
        <p:grpSpPr>
          <a:xfrm>
            <a:off x="8275968" y="1797577"/>
            <a:ext cx="2101834" cy="401050"/>
            <a:chOff x="0" y="0"/>
            <a:chExt cx="2802446" cy="534734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40" name="Freeform 140"/>
          <p:cNvSpPr/>
          <p:nvPr/>
        </p:nvSpPr>
        <p:spPr>
          <a:xfrm>
            <a:off x="9258300" y="1751086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41" name="Group 141"/>
          <p:cNvGrpSpPr/>
          <p:nvPr/>
        </p:nvGrpSpPr>
        <p:grpSpPr>
          <a:xfrm>
            <a:off x="7315848" y="2108473"/>
            <a:ext cx="1050274" cy="401050"/>
            <a:chOff x="0" y="0"/>
            <a:chExt cx="1400366" cy="534734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1400302" cy="534670"/>
            </a:xfrm>
            <a:custGeom>
              <a:avLst/>
              <a:gdLst/>
              <a:ahLst/>
              <a:cxnLst/>
              <a:rect l="l" t="t" r="r" b="b"/>
              <a:pathLst>
                <a:path w="1400302" h="534670">
                  <a:moveTo>
                    <a:pt x="0" y="0"/>
                  </a:moveTo>
                  <a:lnTo>
                    <a:pt x="1400302" y="0"/>
                  </a:lnTo>
                  <a:lnTo>
                    <a:pt x="140030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r="-4" b="-11"/>
              </a:stretch>
            </a:blipFill>
          </p:spPr>
        </p:sp>
      </p:grpSp>
      <p:sp>
        <p:nvSpPr>
          <p:cNvPr id="143" name="Freeform 143"/>
          <p:cNvSpPr/>
          <p:nvPr/>
        </p:nvSpPr>
        <p:spPr>
          <a:xfrm>
            <a:off x="7292350" y="2061982"/>
            <a:ext cx="1097270" cy="448046"/>
          </a:xfrm>
          <a:custGeom>
            <a:avLst/>
            <a:gdLst/>
            <a:ahLst/>
            <a:cxnLst/>
            <a:rect l="l" t="t" r="r" b="b"/>
            <a:pathLst>
              <a:path w="1097270" h="448046">
                <a:moveTo>
                  <a:pt x="0" y="0"/>
                </a:moveTo>
                <a:lnTo>
                  <a:pt x="1097270" y="0"/>
                </a:lnTo>
                <a:lnTo>
                  <a:pt x="109727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</p:spPr>
      </p:sp>
      <p:sp>
        <p:nvSpPr>
          <p:cNvPr id="144" name="Freeform 144"/>
          <p:cNvSpPr/>
          <p:nvPr/>
        </p:nvSpPr>
        <p:spPr>
          <a:xfrm>
            <a:off x="8252470" y="2061982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45" name="Group 145"/>
          <p:cNvGrpSpPr/>
          <p:nvPr/>
        </p:nvGrpSpPr>
        <p:grpSpPr>
          <a:xfrm>
            <a:off x="8275968" y="2108473"/>
            <a:ext cx="2101834" cy="401050"/>
            <a:chOff x="0" y="0"/>
            <a:chExt cx="2802446" cy="534734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47" name="Freeform 147"/>
          <p:cNvSpPr/>
          <p:nvPr/>
        </p:nvSpPr>
        <p:spPr>
          <a:xfrm>
            <a:off x="9258300" y="2061982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48" name="Group 148"/>
          <p:cNvGrpSpPr/>
          <p:nvPr/>
        </p:nvGrpSpPr>
        <p:grpSpPr>
          <a:xfrm>
            <a:off x="7315848" y="2419369"/>
            <a:ext cx="1050274" cy="401050"/>
            <a:chOff x="0" y="0"/>
            <a:chExt cx="1400366" cy="534734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1400302" cy="534670"/>
            </a:xfrm>
            <a:custGeom>
              <a:avLst/>
              <a:gdLst/>
              <a:ahLst/>
              <a:cxnLst/>
              <a:rect l="l" t="t" r="r" b="b"/>
              <a:pathLst>
                <a:path w="1400302" h="534670">
                  <a:moveTo>
                    <a:pt x="0" y="0"/>
                  </a:moveTo>
                  <a:lnTo>
                    <a:pt x="1400302" y="0"/>
                  </a:lnTo>
                  <a:lnTo>
                    <a:pt x="140030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r="-4" b="-11"/>
              </a:stretch>
            </a:blipFill>
          </p:spPr>
        </p:sp>
      </p:grpSp>
      <p:sp>
        <p:nvSpPr>
          <p:cNvPr id="150" name="Freeform 150"/>
          <p:cNvSpPr/>
          <p:nvPr/>
        </p:nvSpPr>
        <p:spPr>
          <a:xfrm>
            <a:off x="7292350" y="2372878"/>
            <a:ext cx="1097270" cy="448046"/>
          </a:xfrm>
          <a:custGeom>
            <a:avLst/>
            <a:gdLst/>
            <a:ahLst/>
            <a:cxnLst/>
            <a:rect l="l" t="t" r="r" b="b"/>
            <a:pathLst>
              <a:path w="1097270" h="448046">
                <a:moveTo>
                  <a:pt x="0" y="0"/>
                </a:moveTo>
                <a:lnTo>
                  <a:pt x="1097270" y="0"/>
                </a:lnTo>
                <a:lnTo>
                  <a:pt x="109727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a:blipFill>
        </p:spPr>
      </p:sp>
      <p:sp>
        <p:nvSpPr>
          <p:cNvPr id="151" name="Freeform 151"/>
          <p:cNvSpPr/>
          <p:nvPr/>
        </p:nvSpPr>
        <p:spPr>
          <a:xfrm>
            <a:off x="8252470" y="2372878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grpSp>
        <p:nvGrpSpPr>
          <p:cNvPr id="152" name="Group 152"/>
          <p:cNvGrpSpPr/>
          <p:nvPr/>
        </p:nvGrpSpPr>
        <p:grpSpPr>
          <a:xfrm>
            <a:off x="8275968" y="2419369"/>
            <a:ext cx="2101834" cy="401050"/>
            <a:chOff x="0" y="0"/>
            <a:chExt cx="2802446" cy="534734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2802382" cy="534670"/>
            </a:xfrm>
            <a:custGeom>
              <a:avLst/>
              <a:gdLst/>
              <a:ahLst/>
              <a:cxnLst/>
              <a:rect l="l" t="t" r="r" b="b"/>
              <a:pathLst>
                <a:path w="2802382" h="534670">
                  <a:moveTo>
                    <a:pt x="0" y="0"/>
                  </a:moveTo>
                  <a:lnTo>
                    <a:pt x="2802382" y="0"/>
                  </a:lnTo>
                  <a:lnTo>
                    <a:pt x="2802382" y="534670"/>
                  </a:lnTo>
                  <a:lnTo>
                    <a:pt x="0" y="53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2" b="-11"/>
              </a:stretch>
            </a:blipFill>
          </p:spPr>
        </p:sp>
      </p:grpSp>
      <p:sp>
        <p:nvSpPr>
          <p:cNvPr id="154" name="Freeform 154"/>
          <p:cNvSpPr/>
          <p:nvPr/>
        </p:nvSpPr>
        <p:spPr>
          <a:xfrm>
            <a:off x="685800" y="4617720"/>
            <a:ext cx="9875520" cy="320040"/>
          </a:xfrm>
          <a:custGeom>
            <a:avLst/>
            <a:gdLst/>
            <a:ahLst/>
            <a:cxnLst/>
            <a:rect l="l" t="t" r="r" b="b"/>
            <a:pathLst>
              <a:path w="9875520" h="320040">
                <a:moveTo>
                  <a:pt x="0" y="0"/>
                </a:moveTo>
                <a:lnTo>
                  <a:pt x="9875520" y="0"/>
                </a:lnTo>
                <a:lnTo>
                  <a:pt x="987552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</p:spPr>
      </p:sp>
      <p:sp>
        <p:nvSpPr>
          <p:cNvPr id="155" name="Freeform 155"/>
          <p:cNvSpPr/>
          <p:nvPr/>
        </p:nvSpPr>
        <p:spPr>
          <a:xfrm>
            <a:off x="685800" y="5285232"/>
            <a:ext cx="9601200" cy="264604"/>
          </a:xfrm>
          <a:custGeom>
            <a:avLst/>
            <a:gdLst/>
            <a:ahLst/>
            <a:cxnLst/>
            <a:rect l="l" t="t" r="r" b="b"/>
            <a:pathLst>
              <a:path w="9601200" h="264604">
                <a:moveTo>
                  <a:pt x="0" y="0"/>
                </a:moveTo>
                <a:lnTo>
                  <a:pt x="9601200" y="0"/>
                </a:lnTo>
                <a:lnTo>
                  <a:pt x="9601200" y="264604"/>
                </a:lnTo>
                <a:lnTo>
                  <a:pt x="0" y="264604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a:blipFill>
        </p:spPr>
      </p:sp>
      <p:sp>
        <p:nvSpPr>
          <p:cNvPr id="156" name="Freeform 156"/>
          <p:cNvSpPr/>
          <p:nvPr/>
        </p:nvSpPr>
        <p:spPr>
          <a:xfrm>
            <a:off x="7360920" y="2971800"/>
            <a:ext cx="3063240" cy="548640"/>
          </a:xfrm>
          <a:custGeom>
            <a:avLst/>
            <a:gdLst/>
            <a:ahLst/>
            <a:cxnLst/>
            <a:rect l="l" t="t" r="r" b="b"/>
            <a:pathLst>
              <a:path w="3063240" h="548640">
                <a:moveTo>
                  <a:pt x="0" y="0"/>
                </a:moveTo>
                <a:lnTo>
                  <a:pt x="3063240" y="0"/>
                </a:lnTo>
                <a:lnTo>
                  <a:pt x="306324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a:blipFill>
        </p:spPr>
      </p:sp>
      <p:sp>
        <p:nvSpPr>
          <p:cNvPr id="157" name="Freeform 157"/>
          <p:cNvSpPr/>
          <p:nvPr/>
        </p:nvSpPr>
        <p:spPr>
          <a:xfrm>
            <a:off x="9258300" y="2372878"/>
            <a:ext cx="1142990" cy="448046"/>
          </a:xfrm>
          <a:custGeom>
            <a:avLst/>
            <a:gdLst/>
            <a:ahLst/>
            <a:cxnLst/>
            <a:rect l="l" t="t" r="r" b="b"/>
            <a:pathLst>
              <a:path w="1142990" h="448046">
                <a:moveTo>
                  <a:pt x="0" y="0"/>
                </a:moveTo>
                <a:lnTo>
                  <a:pt x="1142990" y="0"/>
                </a:lnTo>
                <a:lnTo>
                  <a:pt x="1142990" y="448046"/>
                </a:lnTo>
                <a:lnTo>
                  <a:pt x="0" y="44804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a:blipFill>
        </p:spPr>
      </p:sp>
      <p:sp>
        <p:nvSpPr>
          <p:cNvPr id="158" name="TextBox 158"/>
          <p:cNvSpPr txBox="1"/>
          <p:nvPr/>
        </p:nvSpPr>
        <p:spPr>
          <a:xfrm>
            <a:off x="512064" y="109442"/>
            <a:ext cx="7489279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Training Step 2: Learn Feature Probabilities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695325" y="4597679"/>
            <a:ext cx="9697888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Training calculates probabilities for every feature value, not only the values needed for the next prediction.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695325" y="1220210"/>
            <a:ext cx="144940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Training data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3804285" y="1128770"/>
            <a:ext cx="2364362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Weather probabilities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7370445" y="1128770"/>
            <a:ext cx="284353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Temperature probabilities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777211" y="1723206"/>
            <a:ext cx="261337" cy="256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Day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  <a:p>
            <a:pPr algn="ctr">
              <a:lnSpc>
                <a:spcPts val="1943"/>
              </a:lnSpc>
              <a:spcBef>
                <a:spcPts val="1886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  <a:p>
            <a:pPr algn="ctr">
              <a:lnSpc>
                <a:spcPts val="1943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  <a:p>
            <a:pPr algn="ctr">
              <a:lnSpc>
                <a:spcPts val="1943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  <a:p>
            <a:pPr algn="ctr">
              <a:lnSpc>
                <a:spcPts val="1943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  <a:p>
            <a:pPr algn="ctr">
              <a:lnSpc>
                <a:spcPts val="1943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  <a:p>
            <a:pPr algn="ctr">
              <a:lnSpc>
                <a:spcPts val="1943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  <a:p>
            <a:pPr algn="ctr">
              <a:lnSpc>
                <a:spcPts val="1943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algn="ctr">
              <a:lnSpc>
                <a:spcPts val="1943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9 10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1307792" y="1723206"/>
            <a:ext cx="559289" cy="256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Weather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Sunny</a:t>
            </a:r>
          </a:p>
          <a:p>
            <a:pPr algn="ctr">
              <a:lnSpc>
                <a:spcPts val="1943"/>
              </a:lnSpc>
              <a:spcBef>
                <a:spcPts val="1886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Sunny Rainy Sunny Cloudy Rainy Sunny Cloudy Rainy Sunny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2251329" y="1723206"/>
            <a:ext cx="369199" cy="256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Temp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Mild</a:t>
            </a:r>
          </a:p>
          <a:p>
            <a:pPr algn="ctr">
              <a:lnSpc>
                <a:spcPts val="1943"/>
              </a:lnSpc>
              <a:spcBef>
                <a:spcPts val="1886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Hot Mild Mild Mild Hot Cool Hot Mild Mild</a:t>
            </a:r>
          </a:p>
        </p:txBody>
      </p:sp>
      <p:sp>
        <p:nvSpPr>
          <p:cNvPr id="166" name="TextBox 166"/>
          <p:cNvSpPr txBox="1"/>
          <p:nvPr/>
        </p:nvSpPr>
        <p:spPr>
          <a:xfrm>
            <a:off x="2965371" y="1723206"/>
            <a:ext cx="292827" cy="256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Play </a:t>
            </a:r>
            <a:r>
              <a:rPr lang="en-US" sz="11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</a:p>
          <a:p>
            <a:pPr algn="ctr">
              <a:lnSpc>
                <a:spcPts val="1943"/>
              </a:lnSpc>
              <a:spcBef>
                <a:spcPts val="1886"/>
              </a:spcBef>
            </a:pPr>
            <a:r>
              <a:rPr lang="en-US" sz="1100">
                <a:solidFill>
                  <a:srgbClr val="9C2D2D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11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Yes Yes Yes </a:t>
            </a:r>
            <a:r>
              <a:rPr lang="en-US" sz="1100">
                <a:solidFill>
                  <a:srgbClr val="9C2D2D"/>
                </a:solidFill>
                <a:latin typeface="Arial"/>
                <a:ea typeface="Arial"/>
                <a:cs typeface="Arial"/>
                <a:sym typeface="Arial"/>
              </a:rPr>
              <a:t>No No </a:t>
            </a:r>
            <a:r>
              <a:rPr lang="en-US" sz="11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Yes Yes </a:t>
            </a:r>
            <a:r>
              <a:rPr lang="en-US" sz="1100">
                <a:solidFill>
                  <a:srgbClr val="9C2D2D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4046420" y="1663770"/>
            <a:ext cx="559289" cy="103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Weather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Sunny</a:t>
            </a:r>
          </a:p>
          <a:p>
            <a:pPr algn="ctr">
              <a:lnSpc>
                <a:spcPts val="2447"/>
              </a:lnSpc>
              <a:spcBef>
                <a:spcPts val="2390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Rainy Cloudy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4900308" y="1663770"/>
            <a:ext cx="915524" cy="103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P(value | Yes)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/ 6</a:t>
            </a:r>
          </a:p>
          <a:p>
            <a:pPr algn="ctr">
              <a:lnSpc>
                <a:spcPts val="2447"/>
              </a:lnSpc>
              <a:spcBef>
                <a:spcPts val="2390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/ 6</a:t>
            </a:r>
          </a:p>
          <a:p>
            <a:pPr algn="ctr">
              <a:lnSpc>
                <a:spcPts val="2447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/ 6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5932189" y="1663770"/>
            <a:ext cx="862374" cy="103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P(value | No)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</a:p>
          <a:p>
            <a:pPr algn="ctr">
              <a:lnSpc>
                <a:spcPts val="2447"/>
              </a:lnSpc>
              <a:spcBef>
                <a:spcPts val="2390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 / 4</a:t>
            </a:r>
          </a:p>
          <a:p>
            <a:pPr algn="ctr">
              <a:lnSpc>
                <a:spcPts val="2447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</a:p>
        </p:txBody>
      </p:sp>
      <p:sp>
        <p:nvSpPr>
          <p:cNvPr id="170" name="TextBox 170"/>
          <p:cNvSpPr txBox="1"/>
          <p:nvPr/>
        </p:nvSpPr>
        <p:spPr>
          <a:xfrm>
            <a:off x="7660005" y="1663770"/>
            <a:ext cx="369199" cy="103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Temp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Mild</a:t>
            </a:r>
          </a:p>
          <a:p>
            <a:pPr algn="ctr">
              <a:lnSpc>
                <a:spcPts val="2447"/>
              </a:lnSpc>
              <a:spcBef>
                <a:spcPts val="2390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Hot Cool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8375028" y="1663770"/>
            <a:ext cx="915524" cy="103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P(value | Yes)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 / 6</a:t>
            </a:r>
          </a:p>
          <a:p>
            <a:pPr algn="ctr">
              <a:lnSpc>
                <a:spcPts val="2447"/>
              </a:lnSpc>
              <a:spcBef>
                <a:spcPts val="2390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 / 6</a:t>
            </a:r>
          </a:p>
          <a:p>
            <a:pPr algn="ctr">
              <a:lnSpc>
                <a:spcPts val="2447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 / 6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9406909" y="1663770"/>
            <a:ext cx="862374" cy="1033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"/>
              </a:lnSpc>
            </a:pPr>
            <a:r>
              <a:rPr lang="en-US" sz="11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P(value | No) </a:t>
            </a: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 / 4</a:t>
            </a:r>
          </a:p>
          <a:p>
            <a:pPr algn="ctr">
              <a:lnSpc>
                <a:spcPts val="2447"/>
              </a:lnSpc>
              <a:spcBef>
                <a:spcPts val="2390"/>
              </a:spcBef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</a:p>
          <a:p>
            <a:pPr algn="ctr">
              <a:lnSpc>
                <a:spcPts val="2447"/>
              </a:lnSpc>
            </a:pPr>
            <a:r>
              <a:rPr lang="en-US" sz="1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 / 4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3804285" y="2976886"/>
            <a:ext cx="3033541" cy="655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 among 6 Yes rows, Sunny appears 2 times, so P(Sunny | Yes) = 2/6.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7370445" y="2976886"/>
            <a:ext cx="3087767" cy="44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Denominators are class counts: Yes = 6 rows, No = 4 rows.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695325" y="5275764"/>
            <a:ext cx="9109043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Some feature-class combinations have zero counts: P(Cloudy | No) = 0 and P(Cool | Yes) = 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8680" y="1234440"/>
            <a:ext cx="3291840" cy="320040"/>
          </a:xfrm>
          <a:custGeom>
            <a:avLst/>
            <a:gdLst/>
            <a:ahLst/>
            <a:cxnLst/>
            <a:rect l="l" t="t" r="r" b="b"/>
            <a:pathLst>
              <a:path w="3291840" h="320040">
                <a:moveTo>
                  <a:pt x="0" y="0"/>
                </a:moveTo>
                <a:lnTo>
                  <a:pt x="3291840" y="0"/>
                </a:lnTo>
                <a:lnTo>
                  <a:pt x="329184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8680" y="1691640"/>
            <a:ext cx="3200400" cy="594360"/>
          </a:xfrm>
          <a:custGeom>
            <a:avLst/>
            <a:gdLst/>
            <a:ahLst/>
            <a:cxnLst/>
            <a:rect l="l" t="t" r="r" b="b"/>
            <a:pathLst>
              <a:path w="3200400" h="594360">
                <a:moveTo>
                  <a:pt x="0" y="0"/>
                </a:moveTo>
                <a:lnTo>
                  <a:pt x="3200400" y="0"/>
                </a:lnTo>
                <a:lnTo>
                  <a:pt x="320040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99937" y="1628137"/>
            <a:ext cx="5796277" cy="904237"/>
          </a:xfrm>
          <a:custGeom>
            <a:avLst/>
            <a:gdLst/>
            <a:ahLst/>
            <a:cxnLst/>
            <a:rect l="l" t="t" r="r" b="b"/>
            <a:pathLst>
              <a:path w="5796277" h="904237">
                <a:moveTo>
                  <a:pt x="0" y="0"/>
                </a:moveTo>
                <a:lnTo>
                  <a:pt x="5796277" y="0"/>
                </a:lnTo>
                <a:lnTo>
                  <a:pt x="5796277" y="904237"/>
                </a:lnTo>
                <a:lnTo>
                  <a:pt x="0" y="90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63440" y="1234440"/>
            <a:ext cx="5212080" cy="320040"/>
          </a:xfrm>
          <a:custGeom>
            <a:avLst/>
            <a:gdLst/>
            <a:ahLst/>
            <a:cxnLst/>
            <a:rect l="l" t="t" r="r" b="b"/>
            <a:pathLst>
              <a:path w="5212080" h="320040">
                <a:moveTo>
                  <a:pt x="0" y="0"/>
                </a:moveTo>
                <a:lnTo>
                  <a:pt x="5212080" y="0"/>
                </a:lnTo>
                <a:lnTo>
                  <a:pt x="521208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23608" y="2672401"/>
            <a:ext cx="9919954" cy="90154"/>
            <a:chOff x="0" y="0"/>
            <a:chExt cx="13226605" cy="1202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26542" cy="120142"/>
            </a:xfrm>
            <a:custGeom>
              <a:avLst/>
              <a:gdLst/>
              <a:ahLst/>
              <a:cxnLst/>
              <a:rect l="l" t="t" r="r" b="b"/>
              <a:pathLst>
                <a:path w="13226542" h="120142">
                  <a:moveTo>
                    <a:pt x="0" y="0"/>
                  </a:moveTo>
                  <a:lnTo>
                    <a:pt x="13226542" y="0"/>
                  </a:lnTo>
                  <a:lnTo>
                    <a:pt x="132265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-52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805177" y="2908297"/>
            <a:ext cx="4516117" cy="1425445"/>
          </a:xfrm>
          <a:custGeom>
            <a:avLst/>
            <a:gdLst/>
            <a:ahLst/>
            <a:cxnLst/>
            <a:rect l="l" t="t" r="r" b="b"/>
            <a:pathLst>
              <a:path w="4516117" h="1425445">
                <a:moveTo>
                  <a:pt x="0" y="0"/>
                </a:moveTo>
                <a:lnTo>
                  <a:pt x="4516117" y="0"/>
                </a:lnTo>
                <a:lnTo>
                  <a:pt x="4516117" y="1425445"/>
                </a:lnTo>
                <a:lnTo>
                  <a:pt x="0" y="14254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8680" y="2692403"/>
            <a:ext cx="9829800" cy="10154"/>
          </a:xfrm>
          <a:custGeom>
            <a:avLst/>
            <a:gdLst/>
            <a:ahLst/>
            <a:cxnLst/>
            <a:rect l="l" t="t" r="r" b="b"/>
            <a:pathLst>
              <a:path w="9829800" h="10154">
                <a:moveTo>
                  <a:pt x="0" y="0"/>
                </a:moveTo>
                <a:lnTo>
                  <a:pt x="9829800" y="0"/>
                </a:lnTo>
                <a:lnTo>
                  <a:pt x="9829800" y="10154"/>
                </a:lnTo>
                <a:lnTo>
                  <a:pt x="0" y="1015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651497" y="2908297"/>
            <a:ext cx="4516117" cy="1425445"/>
          </a:xfrm>
          <a:custGeom>
            <a:avLst/>
            <a:gdLst/>
            <a:ahLst/>
            <a:cxnLst/>
            <a:rect l="l" t="t" r="r" b="b"/>
            <a:pathLst>
              <a:path w="4516117" h="1425445">
                <a:moveTo>
                  <a:pt x="0" y="0"/>
                </a:moveTo>
                <a:lnTo>
                  <a:pt x="4516117" y="0"/>
                </a:lnTo>
                <a:lnTo>
                  <a:pt x="4516117" y="1425445"/>
                </a:lnTo>
                <a:lnTo>
                  <a:pt x="0" y="142544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23608" y="4866961"/>
            <a:ext cx="9919954" cy="90154"/>
            <a:chOff x="0" y="0"/>
            <a:chExt cx="13226605" cy="1202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26542" cy="120142"/>
            </a:xfrm>
            <a:custGeom>
              <a:avLst/>
              <a:gdLst/>
              <a:ahLst/>
              <a:cxnLst/>
              <a:rect l="l" t="t" r="r" b="b"/>
              <a:pathLst>
                <a:path w="13226542" h="120142">
                  <a:moveTo>
                    <a:pt x="0" y="0"/>
                  </a:moveTo>
                  <a:lnTo>
                    <a:pt x="13226542" y="0"/>
                  </a:lnTo>
                  <a:lnTo>
                    <a:pt x="13226542" y="120142"/>
                  </a:lnTo>
                  <a:lnTo>
                    <a:pt x="0" y="120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b="-52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868680" y="4886963"/>
            <a:ext cx="9829800" cy="10154"/>
          </a:xfrm>
          <a:custGeom>
            <a:avLst/>
            <a:gdLst/>
            <a:ahLst/>
            <a:cxnLst/>
            <a:rect l="l" t="t" r="r" b="b"/>
            <a:pathLst>
              <a:path w="9829800" h="10154">
                <a:moveTo>
                  <a:pt x="0" y="0"/>
                </a:moveTo>
                <a:lnTo>
                  <a:pt x="9829800" y="0"/>
                </a:lnTo>
                <a:lnTo>
                  <a:pt x="9829800" y="10154"/>
                </a:lnTo>
                <a:lnTo>
                  <a:pt x="0" y="1015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039617" y="5102857"/>
            <a:ext cx="7807957" cy="1087117"/>
          </a:xfrm>
          <a:custGeom>
            <a:avLst/>
            <a:gdLst/>
            <a:ahLst/>
            <a:cxnLst/>
            <a:rect l="l" t="t" r="r" b="b"/>
            <a:pathLst>
              <a:path w="7807957" h="1087117">
                <a:moveTo>
                  <a:pt x="0" y="0"/>
                </a:moveTo>
                <a:lnTo>
                  <a:pt x="7807957" y="0"/>
                </a:lnTo>
                <a:lnTo>
                  <a:pt x="7807957" y="1087117"/>
                </a:lnTo>
                <a:lnTo>
                  <a:pt x="0" y="108711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12064" y="109442"/>
            <a:ext cx="6826606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Inference: Use the Needed Probabilities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8205" y="1700174"/>
            <a:ext cx="1778737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Weather = Sunny Temperature = Mild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8205" y="3410102"/>
            <a:ext cx="4462863" cy="99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Score(Yes) = P(Yes) × P(Sunny | Yes) × P(Mild | Yes)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= 6/10 × 2/6 × 5/6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≈ 0.167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24525" y="3410102"/>
            <a:ext cx="4244350" cy="99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Score(No) = P(No) × P(Sunny | No) × P(Mild | No)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= 4/10 × 3/4 × 1/4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= 0.075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8205" y="1220210"/>
            <a:ext cx="94528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New day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8205" y="2957570"/>
            <a:ext cx="123207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For y = Yes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24525" y="2957570"/>
            <a:ext cx="1145105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For y = No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28872" y="5152130"/>
            <a:ext cx="391915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0.167 &gt; 0.075 → Predict Play = Yes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72965" y="1115435"/>
            <a:ext cx="4614243" cy="126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Naive Bayes score formula</a:t>
            </a:r>
          </a:p>
          <a:p>
            <a:pPr algn="l">
              <a:lnSpc>
                <a:spcPts val="360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Score(y) = P(y) × P(Sunny | y) × P(Mild | y)</a:t>
            </a:r>
          </a:p>
          <a:p>
            <a:pPr algn="l">
              <a:lnSpc>
                <a:spcPts val="280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Then substitute the values learned during training.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01780" y="5691511"/>
            <a:ext cx="7632906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same denominator P(Sunny, Mild) applies to both classes, so comparing scores is enough.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8680" y="1143000"/>
            <a:ext cx="10241280" cy="274320"/>
          </a:xfrm>
          <a:custGeom>
            <a:avLst/>
            <a:gdLst/>
            <a:ahLst/>
            <a:cxnLst/>
            <a:rect l="l" t="t" r="r" b="b"/>
            <a:pathLst>
              <a:path w="10241280" h="274320">
                <a:moveTo>
                  <a:pt x="0" y="0"/>
                </a:moveTo>
                <a:lnTo>
                  <a:pt x="10241280" y="0"/>
                </a:lnTo>
                <a:lnTo>
                  <a:pt x="1024128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23608" y="1578121"/>
            <a:ext cx="2056114" cy="501634"/>
            <a:chOff x="0" y="0"/>
            <a:chExt cx="2741486" cy="6688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41422" cy="668782"/>
            </a:xfrm>
            <a:custGeom>
              <a:avLst/>
              <a:gdLst/>
              <a:ahLst/>
              <a:cxnLst/>
              <a:rect l="l" t="t" r="r" b="b"/>
              <a:pathLst>
                <a:path w="2741422" h="668782">
                  <a:moveTo>
                    <a:pt x="0" y="0"/>
                  </a:moveTo>
                  <a:lnTo>
                    <a:pt x="2741422" y="0"/>
                  </a:lnTo>
                  <a:lnTo>
                    <a:pt x="2741422" y="668782"/>
                  </a:lnTo>
                  <a:lnTo>
                    <a:pt x="0" y="668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2" b="-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800110" y="1531630"/>
            <a:ext cx="2103110" cy="548630"/>
          </a:xfrm>
          <a:custGeom>
            <a:avLst/>
            <a:gdLst/>
            <a:ahLst/>
            <a:cxnLst/>
            <a:rect l="l" t="t" r="r" b="b"/>
            <a:pathLst>
              <a:path w="2103110" h="548630">
                <a:moveTo>
                  <a:pt x="0" y="0"/>
                </a:moveTo>
                <a:lnTo>
                  <a:pt x="2103110" y="0"/>
                </a:lnTo>
                <a:lnTo>
                  <a:pt x="2103110" y="548630"/>
                </a:lnTo>
                <a:lnTo>
                  <a:pt x="0" y="548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766060" y="1531630"/>
            <a:ext cx="4023350" cy="548630"/>
          </a:xfrm>
          <a:custGeom>
            <a:avLst/>
            <a:gdLst/>
            <a:ahLst/>
            <a:cxnLst/>
            <a:rect l="l" t="t" r="r" b="b"/>
            <a:pathLst>
              <a:path w="4023350" h="548630">
                <a:moveTo>
                  <a:pt x="0" y="0"/>
                </a:moveTo>
                <a:lnTo>
                  <a:pt x="4023350" y="0"/>
                </a:lnTo>
                <a:lnTo>
                  <a:pt x="4023350" y="548630"/>
                </a:lnTo>
                <a:lnTo>
                  <a:pt x="0" y="5486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789568" y="1578121"/>
            <a:ext cx="8502634" cy="501634"/>
            <a:chOff x="0" y="0"/>
            <a:chExt cx="11336846" cy="6688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36782" cy="668782"/>
            </a:xfrm>
            <a:custGeom>
              <a:avLst/>
              <a:gdLst/>
              <a:ahLst/>
              <a:cxnLst/>
              <a:rect l="l" t="t" r="r" b="b"/>
              <a:pathLst>
                <a:path w="11336782" h="668782">
                  <a:moveTo>
                    <a:pt x="0" y="0"/>
                  </a:moveTo>
                  <a:lnTo>
                    <a:pt x="11336782" y="0"/>
                  </a:lnTo>
                  <a:lnTo>
                    <a:pt x="11336782" y="668782"/>
                  </a:lnTo>
                  <a:lnTo>
                    <a:pt x="0" y="668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b="-9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6652270" y="1531630"/>
            <a:ext cx="4663430" cy="548630"/>
          </a:xfrm>
          <a:custGeom>
            <a:avLst/>
            <a:gdLst/>
            <a:ahLst/>
            <a:cxnLst/>
            <a:rect l="l" t="t" r="r" b="b"/>
            <a:pathLst>
              <a:path w="4663430" h="548630">
                <a:moveTo>
                  <a:pt x="0" y="0"/>
                </a:moveTo>
                <a:lnTo>
                  <a:pt x="4663430" y="0"/>
                </a:lnTo>
                <a:lnTo>
                  <a:pt x="4663430" y="548630"/>
                </a:lnTo>
                <a:lnTo>
                  <a:pt x="0" y="54863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823608" y="1989601"/>
            <a:ext cx="2056114" cy="620506"/>
            <a:chOff x="0" y="0"/>
            <a:chExt cx="2741486" cy="82734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41422" cy="827278"/>
            </a:xfrm>
            <a:custGeom>
              <a:avLst/>
              <a:gdLst/>
              <a:ahLst/>
              <a:cxnLst/>
              <a:rect l="l" t="t" r="r" b="b"/>
              <a:pathLst>
                <a:path w="2741422" h="827278">
                  <a:moveTo>
                    <a:pt x="0" y="0"/>
                  </a:moveTo>
                  <a:lnTo>
                    <a:pt x="2741422" y="0"/>
                  </a:lnTo>
                  <a:lnTo>
                    <a:pt x="2741422" y="827278"/>
                  </a:lnTo>
                  <a:lnTo>
                    <a:pt x="0" y="82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2" b="-7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800110" y="1943110"/>
            <a:ext cx="2103110" cy="667502"/>
          </a:xfrm>
          <a:custGeom>
            <a:avLst/>
            <a:gdLst/>
            <a:ahLst/>
            <a:cxnLst/>
            <a:rect l="l" t="t" r="r" b="b"/>
            <a:pathLst>
              <a:path w="2103110" h="667502">
                <a:moveTo>
                  <a:pt x="0" y="0"/>
                </a:moveTo>
                <a:lnTo>
                  <a:pt x="2103110" y="0"/>
                </a:lnTo>
                <a:lnTo>
                  <a:pt x="2103110" y="667502"/>
                </a:lnTo>
                <a:lnTo>
                  <a:pt x="0" y="66750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766060" y="1943110"/>
            <a:ext cx="4023350" cy="667502"/>
          </a:xfrm>
          <a:custGeom>
            <a:avLst/>
            <a:gdLst/>
            <a:ahLst/>
            <a:cxnLst/>
            <a:rect l="l" t="t" r="r" b="b"/>
            <a:pathLst>
              <a:path w="4023350" h="667502">
                <a:moveTo>
                  <a:pt x="0" y="0"/>
                </a:moveTo>
                <a:lnTo>
                  <a:pt x="4023350" y="0"/>
                </a:lnTo>
                <a:lnTo>
                  <a:pt x="4023350" y="667502"/>
                </a:lnTo>
                <a:lnTo>
                  <a:pt x="0" y="66750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789568" y="1989601"/>
            <a:ext cx="8502634" cy="620506"/>
            <a:chOff x="0" y="0"/>
            <a:chExt cx="11336846" cy="8273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336782" cy="827278"/>
            </a:xfrm>
            <a:custGeom>
              <a:avLst/>
              <a:gdLst/>
              <a:ahLst/>
              <a:cxnLst/>
              <a:rect l="l" t="t" r="r" b="b"/>
              <a:pathLst>
                <a:path w="11336782" h="827278">
                  <a:moveTo>
                    <a:pt x="0" y="0"/>
                  </a:moveTo>
                  <a:lnTo>
                    <a:pt x="11336782" y="0"/>
                  </a:lnTo>
                  <a:lnTo>
                    <a:pt x="11336782" y="827278"/>
                  </a:lnTo>
                  <a:lnTo>
                    <a:pt x="0" y="82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b="-7"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6652270" y="1943110"/>
            <a:ext cx="4663430" cy="667502"/>
          </a:xfrm>
          <a:custGeom>
            <a:avLst/>
            <a:gdLst/>
            <a:ahLst/>
            <a:cxnLst/>
            <a:rect l="l" t="t" r="r" b="b"/>
            <a:pathLst>
              <a:path w="4663430" h="667502">
                <a:moveTo>
                  <a:pt x="0" y="0"/>
                </a:moveTo>
                <a:lnTo>
                  <a:pt x="4663430" y="0"/>
                </a:lnTo>
                <a:lnTo>
                  <a:pt x="4663430" y="667502"/>
                </a:lnTo>
                <a:lnTo>
                  <a:pt x="0" y="66750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823608" y="2519953"/>
            <a:ext cx="2056114" cy="620506"/>
            <a:chOff x="0" y="0"/>
            <a:chExt cx="2741486" cy="8273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741422" cy="827278"/>
            </a:xfrm>
            <a:custGeom>
              <a:avLst/>
              <a:gdLst/>
              <a:ahLst/>
              <a:cxnLst/>
              <a:rect l="l" t="t" r="r" b="b"/>
              <a:pathLst>
                <a:path w="2741422" h="827278">
                  <a:moveTo>
                    <a:pt x="0" y="0"/>
                  </a:moveTo>
                  <a:lnTo>
                    <a:pt x="2741422" y="0"/>
                  </a:lnTo>
                  <a:lnTo>
                    <a:pt x="2741422" y="827278"/>
                  </a:lnTo>
                  <a:lnTo>
                    <a:pt x="0" y="82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2" b="-7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800110" y="2473462"/>
            <a:ext cx="2103110" cy="667502"/>
          </a:xfrm>
          <a:custGeom>
            <a:avLst/>
            <a:gdLst/>
            <a:ahLst/>
            <a:cxnLst/>
            <a:rect l="l" t="t" r="r" b="b"/>
            <a:pathLst>
              <a:path w="2103110" h="667502">
                <a:moveTo>
                  <a:pt x="0" y="0"/>
                </a:moveTo>
                <a:lnTo>
                  <a:pt x="2103110" y="0"/>
                </a:lnTo>
                <a:lnTo>
                  <a:pt x="2103110" y="667502"/>
                </a:lnTo>
                <a:lnTo>
                  <a:pt x="0" y="66750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766060" y="2473462"/>
            <a:ext cx="4023350" cy="667502"/>
          </a:xfrm>
          <a:custGeom>
            <a:avLst/>
            <a:gdLst/>
            <a:ahLst/>
            <a:cxnLst/>
            <a:rect l="l" t="t" r="r" b="b"/>
            <a:pathLst>
              <a:path w="4023350" h="667502">
                <a:moveTo>
                  <a:pt x="0" y="0"/>
                </a:moveTo>
                <a:lnTo>
                  <a:pt x="4023350" y="0"/>
                </a:lnTo>
                <a:lnTo>
                  <a:pt x="4023350" y="667502"/>
                </a:lnTo>
                <a:lnTo>
                  <a:pt x="0" y="66750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789568" y="2519953"/>
            <a:ext cx="8502634" cy="620506"/>
            <a:chOff x="0" y="0"/>
            <a:chExt cx="11336846" cy="8273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36782" cy="827278"/>
            </a:xfrm>
            <a:custGeom>
              <a:avLst/>
              <a:gdLst/>
              <a:ahLst/>
              <a:cxnLst/>
              <a:rect l="l" t="t" r="r" b="b"/>
              <a:pathLst>
                <a:path w="11336782" h="827278">
                  <a:moveTo>
                    <a:pt x="0" y="0"/>
                  </a:moveTo>
                  <a:lnTo>
                    <a:pt x="11336782" y="0"/>
                  </a:lnTo>
                  <a:lnTo>
                    <a:pt x="11336782" y="827278"/>
                  </a:lnTo>
                  <a:lnTo>
                    <a:pt x="0" y="827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b="-7"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>
            <a:off x="6652270" y="2473462"/>
            <a:ext cx="4663430" cy="667502"/>
          </a:xfrm>
          <a:custGeom>
            <a:avLst/>
            <a:gdLst/>
            <a:ahLst/>
            <a:cxnLst/>
            <a:rect l="l" t="t" r="r" b="b"/>
            <a:pathLst>
              <a:path w="4663430" h="667502">
                <a:moveTo>
                  <a:pt x="0" y="0"/>
                </a:moveTo>
                <a:lnTo>
                  <a:pt x="4663430" y="0"/>
                </a:lnTo>
                <a:lnTo>
                  <a:pt x="4663430" y="667502"/>
                </a:lnTo>
                <a:lnTo>
                  <a:pt x="0" y="66750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823608" y="3050305"/>
            <a:ext cx="2056114" cy="711946"/>
            <a:chOff x="0" y="0"/>
            <a:chExt cx="2741486" cy="9492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741422" cy="949198"/>
            </a:xfrm>
            <a:custGeom>
              <a:avLst/>
              <a:gdLst/>
              <a:ahLst/>
              <a:cxnLst/>
              <a:rect l="l" t="t" r="r" b="b"/>
              <a:pathLst>
                <a:path w="2741422" h="949198">
                  <a:moveTo>
                    <a:pt x="0" y="0"/>
                  </a:moveTo>
                  <a:lnTo>
                    <a:pt x="2741422" y="0"/>
                  </a:lnTo>
                  <a:lnTo>
                    <a:pt x="2741422" y="949198"/>
                  </a:lnTo>
                  <a:lnTo>
                    <a:pt x="0" y="949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r="-2" b="-6"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>
            <a:off x="800110" y="3003814"/>
            <a:ext cx="2103110" cy="758942"/>
          </a:xfrm>
          <a:custGeom>
            <a:avLst/>
            <a:gdLst/>
            <a:ahLst/>
            <a:cxnLst/>
            <a:rect l="l" t="t" r="r" b="b"/>
            <a:pathLst>
              <a:path w="2103110" h="758942">
                <a:moveTo>
                  <a:pt x="0" y="0"/>
                </a:moveTo>
                <a:lnTo>
                  <a:pt x="2103110" y="0"/>
                </a:lnTo>
                <a:lnTo>
                  <a:pt x="2103110" y="758942"/>
                </a:lnTo>
                <a:lnTo>
                  <a:pt x="0" y="75894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2766060" y="3003814"/>
            <a:ext cx="4023350" cy="758942"/>
          </a:xfrm>
          <a:custGeom>
            <a:avLst/>
            <a:gdLst/>
            <a:ahLst/>
            <a:cxnLst/>
            <a:rect l="l" t="t" r="r" b="b"/>
            <a:pathLst>
              <a:path w="4023350" h="758942">
                <a:moveTo>
                  <a:pt x="0" y="0"/>
                </a:moveTo>
                <a:lnTo>
                  <a:pt x="4023350" y="0"/>
                </a:lnTo>
                <a:lnTo>
                  <a:pt x="4023350" y="758942"/>
                </a:lnTo>
                <a:lnTo>
                  <a:pt x="0" y="75894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2789568" y="3050305"/>
            <a:ext cx="8502634" cy="711946"/>
            <a:chOff x="0" y="0"/>
            <a:chExt cx="11336846" cy="94926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336782" cy="949198"/>
            </a:xfrm>
            <a:custGeom>
              <a:avLst/>
              <a:gdLst/>
              <a:ahLst/>
              <a:cxnLst/>
              <a:rect l="l" t="t" r="r" b="b"/>
              <a:pathLst>
                <a:path w="11336782" h="949198">
                  <a:moveTo>
                    <a:pt x="0" y="0"/>
                  </a:moveTo>
                  <a:lnTo>
                    <a:pt x="11336782" y="0"/>
                  </a:lnTo>
                  <a:lnTo>
                    <a:pt x="11336782" y="949198"/>
                  </a:lnTo>
                  <a:lnTo>
                    <a:pt x="0" y="949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b="-6"/>
              </a:stretch>
            </a:blipFill>
          </p:spPr>
        </p:sp>
      </p:grpSp>
      <p:sp>
        <p:nvSpPr>
          <p:cNvPr id="35" name="Freeform 35"/>
          <p:cNvSpPr/>
          <p:nvPr/>
        </p:nvSpPr>
        <p:spPr>
          <a:xfrm>
            <a:off x="6652270" y="3003814"/>
            <a:ext cx="4663430" cy="758942"/>
          </a:xfrm>
          <a:custGeom>
            <a:avLst/>
            <a:gdLst/>
            <a:ahLst/>
            <a:cxnLst/>
            <a:rect l="l" t="t" r="r" b="b"/>
            <a:pathLst>
              <a:path w="4663430" h="758942">
                <a:moveTo>
                  <a:pt x="0" y="0"/>
                </a:moveTo>
                <a:lnTo>
                  <a:pt x="4663430" y="0"/>
                </a:lnTo>
                <a:lnTo>
                  <a:pt x="4663430" y="758942"/>
                </a:lnTo>
                <a:lnTo>
                  <a:pt x="0" y="75894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823608" y="3672097"/>
            <a:ext cx="2056114" cy="711946"/>
            <a:chOff x="0" y="0"/>
            <a:chExt cx="2741486" cy="94926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41422" cy="949198"/>
            </a:xfrm>
            <a:custGeom>
              <a:avLst/>
              <a:gdLst/>
              <a:ahLst/>
              <a:cxnLst/>
              <a:rect l="l" t="t" r="r" b="b"/>
              <a:pathLst>
                <a:path w="2741422" h="949198">
                  <a:moveTo>
                    <a:pt x="0" y="0"/>
                  </a:moveTo>
                  <a:lnTo>
                    <a:pt x="2741422" y="0"/>
                  </a:lnTo>
                  <a:lnTo>
                    <a:pt x="2741422" y="949198"/>
                  </a:lnTo>
                  <a:lnTo>
                    <a:pt x="0" y="949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r="-2" b="-6"/>
              </a:stretch>
            </a:blipFill>
          </p:spPr>
        </p:sp>
      </p:grpSp>
      <p:sp>
        <p:nvSpPr>
          <p:cNvPr id="38" name="Freeform 38"/>
          <p:cNvSpPr/>
          <p:nvPr/>
        </p:nvSpPr>
        <p:spPr>
          <a:xfrm>
            <a:off x="800110" y="3625606"/>
            <a:ext cx="2103110" cy="758942"/>
          </a:xfrm>
          <a:custGeom>
            <a:avLst/>
            <a:gdLst/>
            <a:ahLst/>
            <a:cxnLst/>
            <a:rect l="l" t="t" r="r" b="b"/>
            <a:pathLst>
              <a:path w="2103110" h="758942">
                <a:moveTo>
                  <a:pt x="0" y="0"/>
                </a:moveTo>
                <a:lnTo>
                  <a:pt x="2103110" y="0"/>
                </a:lnTo>
                <a:lnTo>
                  <a:pt x="2103110" y="758942"/>
                </a:lnTo>
                <a:lnTo>
                  <a:pt x="0" y="75894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2766060" y="3625606"/>
            <a:ext cx="4023350" cy="758942"/>
          </a:xfrm>
          <a:custGeom>
            <a:avLst/>
            <a:gdLst/>
            <a:ahLst/>
            <a:cxnLst/>
            <a:rect l="l" t="t" r="r" b="b"/>
            <a:pathLst>
              <a:path w="4023350" h="758942">
                <a:moveTo>
                  <a:pt x="0" y="0"/>
                </a:moveTo>
                <a:lnTo>
                  <a:pt x="4023350" y="0"/>
                </a:lnTo>
                <a:lnTo>
                  <a:pt x="4023350" y="758942"/>
                </a:lnTo>
                <a:lnTo>
                  <a:pt x="0" y="75894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2789568" y="3672097"/>
            <a:ext cx="8502634" cy="711946"/>
            <a:chOff x="0" y="0"/>
            <a:chExt cx="11336846" cy="94926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336782" cy="949198"/>
            </a:xfrm>
            <a:custGeom>
              <a:avLst/>
              <a:gdLst/>
              <a:ahLst/>
              <a:cxnLst/>
              <a:rect l="l" t="t" r="r" b="b"/>
              <a:pathLst>
                <a:path w="11336782" h="949198">
                  <a:moveTo>
                    <a:pt x="0" y="0"/>
                  </a:moveTo>
                  <a:lnTo>
                    <a:pt x="11336782" y="0"/>
                  </a:lnTo>
                  <a:lnTo>
                    <a:pt x="11336782" y="949198"/>
                  </a:lnTo>
                  <a:lnTo>
                    <a:pt x="0" y="949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b="-6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805177" y="4490209"/>
            <a:ext cx="10368277" cy="767077"/>
          </a:xfrm>
          <a:custGeom>
            <a:avLst/>
            <a:gdLst/>
            <a:ahLst/>
            <a:cxnLst/>
            <a:rect l="l" t="t" r="r" b="b"/>
            <a:pathLst>
              <a:path w="10368277" h="767077">
                <a:moveTo>
                  <a:pt x="0" y="0"/>
                </a:moveTo>
                <a:lnTo>
                  <a:pt x="10368277" y="0"/>
                </a:lnTo>
                <a:lnTo>
                  <a:pt x="10368277" y="767077"/>
                </a:lnTo>
                <a:lnTo>
                  <a:pt x="0" y="767077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6652270" y="3625606"/>
            <a:ext cx="4663430" cy="758942"/>
          </a:xfrm>
          <a:custGeom>
            <a:avLst/>
            <a:gdLst/>
            <a:ahLst/>
            <a:cxnLst/>
            <a:rect l="l" t="t" r="r" b="b"/>
            <a:pathLst>
              <a:path w="4663430" h="758942">
                <a:moveTo>
                  <a:pt x="0" y="0"/>
                </a:moveTo>
                <a:lnTo>
                  <a:pt x="4663430" y="0"/>
                </a:lnTo>
                <a:lnTo>
                  <a:pt x="4663430" y="758942"/>
                </a:lnTo>
                <a:lnTo>
                  <a:pt x="0" y="758942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512064" y="109442"/>
            <a:ext cx="3700024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Types of Naive Bayes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30582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30352" y="528599"/>
            <a:ext cx="4478350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Choosethevariantthatmatches the feature type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8680" y="1122959"/>
            <a:ext cx="623574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Naive Bayes variants differ by the kind of feature values they model.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68680" y="4533671"/>
            <a:ext cx="9599647" cy="620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Weather example: Categorical NB logic. Text classification: MultinomialNB with CountVectorizer / TF-IDF.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Choose the variant based on what the feature values represent.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34001" y="1679781"/>
            <a:ext cx="647443" cy="27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Variant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211355" y="1679781"/>
            <a:ext cx="1154592" cy="27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Feature type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255137" y="1679781"/>
            <a:ext cx="1485500" cy="272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Typical example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5355" y="3884152"/>
            <a:ext cx="1097023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Bernoulli NB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5355" y="2155936"/>
            <a:ext cx="1127855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Gaussian NB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35355" y="2686288"/>
            <a:ext cx="1299058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Categorical NB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5355" y="3262360"/>
            <a:ext cx="1318460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Multinomial NB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901315" y="2146687"/>
            <a:ext cx="2186607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Continuous numeric values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01315" y="2677039"/>
            <a:ext cx="1551499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Discrete categories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901315" y="3175006"/>
            <a:ext cx="1884293" cy="1063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Counts or non-negative frequencies</a:t>
            </a:r>
          </a:p>
          <a:p>
            <a:pPr algn="l">
              <a:lnSpc>
                <a:spcPts val="1680"/>
              </a:lnSpc>
              <a:spcBef>
                <a:spcPts val="1535"/>
              </a:spcBef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Binary present / absent values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787515" y="3874903"/>
            <a:ext cx="2306669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word present = 1, absent = 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787515" y="2146687"/>
            <a:ext cx="2364334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height, salary, sensor reading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87515" y="2677039"/>
            <a:ext cx="1914211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weather, color, category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787515" y="3253111"/>
            <a:ext cx="2353094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word counts, TF-IDF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59"/>
          </a:xfrm>
          <a:custGeom>
            <a:avLst/>
            <a:gdLst/>
            <a:ahLst/>
            <a:cxnLst/>
            <a:rect l="l" t="t" r="r" b="b"/>
            <a:pathLst>
              <a:path w="11820839" h="890759">
                <a:moveTo>
                  <a:pt x="0" y="0"/>
                </a:moveTo>
                <a:lnTo>
                  <a:pt x="11820840" y="0"/>
                </a:lnTo>
                <a:lnTo>
                  <a:pt x="11820840" y="890759"/>
                </a:lnTo>
                <a:lnTo>
                  <a:pt x="0" y="8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22996"/>
          </a:xfrm>
          <a:custGeom>
            <a:avLst/>
            <a:gdLst/>
            <a:ahLst/>
            <a:cxnLst/>
            <a:rect l="l" t="t" r="r" b="b"/>
            <a:pathLst>
              <a:path w="1828800" h="122996">
                <a:moveTo>
                  <a:pt x="0" y="0"/>
                </a:moveTo>
                <a:lnTo>
                  <a:pt x="1828800" y="0"/>
                </a:lnTo>
                <a:lnTo>
                  <a:pt x="1828800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33500" y="2762250"/>
            <a:ext cx="2095500" cy="857402"/>
          </a:xfrm>
          <a:custGeom>
            <a:avLst/>
            <a:gdLst/>
            <a:ahLst/>
            <a:cxnLst/>
            <a:rect l="l" t="t" r="r" b="b"/>
            <a:pathLst>
              <a:path w="2095500" h="857402">
                <a:moveTo>
                  <a:pt x="0" y="0"/>
                </a:moveTo>
                <a:lnTo>
                  <a:pt x="2095500" y="0"/>
                </a:lnTo>
                <a:lnTo>
                  <a:pt x="2095500" y="857402"/>
                </a:lnTo>
                <a:lnTo>
                  <a:pt x="0" y="857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714750" y="2762250"/>
            <a:ext cx="571500" cy="857402"/>
          </a:xfrm>
          <a:custGeom>
            <a:avLst/>
            <a:gdLst/>
            <a:ahLst/>
            <a:cxnLst/>
            <a:rect l="l" t="t" r="r" b="b"/>
            <a:pathLst>
              <a:path w="571500" h="857402">
                <a:moveTo>
                  <a:pt x="0" y="0"/>
                </a:moveTo>
                <a:lnTo>
                  <a:pt x="571500" y="0"/>
                </a:lnTo>
                <a:lnTo>
                  <a:pt x="571500" y="857402"/>
                </a:lnTo>
                <a:lnTo>
                  <a:pt x="0" y="857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72000" y="2762250"/>
            <a:ext cx="2095500" cy="857402"/>
          </a:xfrm>
          <a:custGeom>
            <a:avLst/>
            <a:gdLst/>
            <a:ahLst/>
            <a:cxnLst/>
            <a:rect l="l" t="t" r="r" b="b"/>
            <a:pathLst>
              <a:path w="2095500" h="857402">
                <a:moveTo>
                  <a:pt x="0" y="0"/>
                </a:moveTo>
                <a:lnTo>
                  <a:pt x="2095500" y="0"/>
                </a:lnTo>
                <a:lnTo>
                  <a:pt x="2095500" y="857402"/>
                </a:lnTo>
                <a:lnTo>
                  <a:pt x="0" y="8574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953250" y="2762250"/>
            <a:ext cx="571500" cy="857402"/>
          </a:xfrm>
          <a:custGeom>
            <a:avLst/>
            <a:gdLst/>
            <a:ahLst/>
            <a:cxnLst/>
            <a:rect l="l" t="t" r="r" b="b"/>
            <a:pathLst>
              <a:path w="571500" h="857402">
                <a:moveTo>
                  <a:pt x="0" y="0"/>
                </a:moveTo>
                <a:lnTo>
                  <a:pt x="571500" y="0"/>
                </a:lnTo>
                <a:lnTo>
                  <a:pt x="571500" y="857402"/>
                </a:lnTo>
                <a:lnTo>
                  <a:pt x="0" y="8574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48561" y="55369"/>
            <a:ext cx="8603504" cy="803072"/>
          </a:xfrm>
          <a:custGeom>
            <a:avLst/>
            <a:gdLst/>
            <a:ahLst/>
            <a:cxnLst/>
            <a:rect l="l" t="t" r="r" b="b"/>
            <a:pathLst>
              <a:path w="8603504" h="803072">
                <a:moveTo>
                  <a:pt x="0" y="0"/>
                </a:moveTo>
                <a:lnTo>
                  <a:pt x="8603504" y="0"/>
                </a:lnTo>
                <a:lnTo>
                  <a:pt x="8603504" y="803072"/>
                </a:lnTo>
                <a:lnTo>
                  <a:pt x="0" y="8030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810500" y="2762250"/>
            <a:ext cx="3048000" cy="857402"/>
          </a:xfrm>
          <a:custGeom>
            <a:avLst/>
            <a:gdLst/>
            <a:ahLst/>
            <a:cxnLst/>
            <a:rect l="l" t="t" r="r" b="b"/>
            <a:pathLst>
              <a:path w="3048000" h="857402">
                <a:moveTo>
                  <a:pt x="0" y="0"/>
                </a:moveTo>
                <a:lnTo>
                  <a:pt x="3048000" y="0"/>
                </a:lnTo>
                <a:lnTo>
                  <a:pt x="3048000" y="857402"/>
                </a:lnTo>
                <a:lnTo>
                  <a:pt x="0" y="8574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4400" y="1619250"/>
            <a:ext cx="10363200" cy="571500"/>
          </a:xfrm>
          <a:custGeom>
            <a:avLst/>
            <a:gdLst/>
            <a:ahLst/>
            <a:cxnLst/>
            <a:rect l="l" t="t" r="r" b="b"/>
            <a:pathLst>
              <a:path w="10363200" h="571500">
                <a:moveTo>
                  <a:pt x="0" y="0"/>
                </a:moveTo>
                <a:lnTo>
                  <a:pt x="10363200" y="0"/>
                </a:lnTo>
                <a:lnTo>
                  <a:pt x="10363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109960" y="6355080"/>
            <a:ext cx="183004" cy="122996"/>
          </a:xfrm>
          <a:custGeom>
            <a:avLst/>
            <a:gdLst/>
            <a:ahLst/>
            <a:cxnLst/>
            <a:rect l="l" t="t" r="r" b="b"/>
            <a:pathLst>
              <a:path w="183004" h="122996">
                <a:moveTo>
                  <a:pt x="0" y="0"/>
                </a:moveTo>
                <a:lnTo>
                  <a:pt x="183004" y="0"/>
                </a:lnTo>
                <a:lnTo>
                  <a:pt x="183004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12064" y="109442"/>
            <a:ext cx="3275286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NLP Fundamentals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1475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0352" y="528599"/>
            <a:ext cx="6348498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Turninghumanlanguageintorepresentations a model can learn from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25998" y="1599209"/>
            <a:ext cx="7484516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Natural Language Processing (NLP) helps computers work with human language.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80064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42862" y="3059554"/>
            <a:ext cx="89393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Raw Text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14081" y="3059554"/>
            <a:ext cx="1438618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Preprocessing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75724" y="2914774"/>
            <a:ext cx="2566549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Numerical Representation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58864" y="3220803"/>
            <a:ext cx="50235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73551" y="3038618"/>
            <a:ext cx="259080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A0ACB9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12051" y="3038618"/>
            <a:ext cx="259080" cy="347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A0ACB9"/>
                </a:solidFill>
                <a:latin typeface="Arial Bold"/>
                <a:ea typeface="Arial Bold"/>
                <a:cs typeface="Arial Bold"/>
                <a:sym typeface="Arial Bold"/>
              </a:rPr>
              <a:t>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72073" y="3220803"/>
            <a:ext cx="2778557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BoW • TF-IDF • WordEmbeddings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50897" y="1170937"/>
            <a:ext cx="2275837" cy="328165"/>
          </a:xfrm>
          <a:custGeom>
            <a:avLst/>
            <a:gdLst/>
            <a:ahLst/>
            <a:cxnLst/>
            <a:rect l="l" t="t" r="r" b="b"/>
            <a:pathLst>
              <a:path w="2275837" h="328165">
                <a:moveTo>
                  <a:pt x="0" y="0"/>
                </a:moveTo>
                <a:lnTo>
                  <a:pt x="2275837" y="0"/>
                </a:lnTo>
                <a:lnTo>
                  <a:pt x="2275837" y="328165"/>
                </a:lnTo>
                <a:lnTo>
                  <a:pt x="0" y="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50897" y="1856737"/>
            <a:ext cx="2275837" cy="328165"/>
          </a:xfrm>
          <a:custGeom>
            <a:avLst/>
            <a:gdLst/>
            <a:ahLst/>
            <a:cxnLst/>
            <a:rect l="l" t="t" r="r" b="b"/>
            <a:pathLst>
              <a:path w="2275837" h="328165">
                <a:moveTo>
                  <a:pt x="0" y="0"/>
                </a:moveTo>
                <a:lnTo>
                  <a:pt x="2275837" y="0"/>
                </a:lnTo>
                <a:lnTo>
                  <a:pt x="2275837" y="328165"/>
                </a:lnTo>
                <a:lnTo>
                  <a:pt x="0" y="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50897" y="2542537"/>
            <a:ext cx="2275837" cy="328165"/>
          </a:xfrm>
          <a:custGeom>
            <a:avLst/>
            <a:gdLst/>
            <a:ahLst/>
            <a:cxnLst/>
            <a:rect l="l" t="t" r="r" b="b"/>
            <a:pathLst>
              <a:path w="2275837" h="328165">
                <a:moveTo>
                  <a:pt x="0" y="0"/>
                </a:moveTo>
                <a:lnTo>
                  <a:pt x="2275837" y="0"/>
                </a:lnTo>
                <a:lnTo>
                  <a:pt x="2275837" y="328165"/>
                </a:lnTo>
                <a:lnTo>
                  <a:pt x="0" y="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0897" y="3228337"/>
            <a:ext cx="2275837" cy="328165"/>
          </a:xfrm>
          <a:custGeom>
            <a:avLst/>
            <a:gdLst/>
            <a:ahLst/>
            <a:cxnLst/>
            <a:rect l="l" t="t" r="r" b="b"/>
            <a:pathLst>
              <a:path w="2275837" h="328165">
                <a:moveTo>
                  <a:pt x="0" y="0"/>
                </a:moveTo>
                <a:lnTo>
                  <a:pt x="2275837" y="0"/>
                </a:lnTo>
                <a:lnTo>
                  <a:pt x="2275837" y="328165"/>
                </a:lnTo>
                <a:lnTo>
                  <a:pt x="0" y="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50897" y="3914137"/>
            <a:ext cx="2275837" cy="328165"/>
          </a:xfrm>
          <a:custGeom>
            <a:avLst/>
            <a:gdLst/>
            <a:ahLst/>
            <a:cxnLst/>
            <a:rect l="l" t="t" r="r" b="b"/>
            <a:pathLst>
              <a:path w="2275837" h="328165">
                <a:moveTo>
                  <a:pt x="0" y="0"/>
                </a:moveTo>
                <a:lnTo>
                  <a:pt x="2275837" y="0"/>
                </a:lnTo>
                <a:lnTo>
                  <a:pt x="2275837" y="328165"/>
                </a:lnTo>
                <a:lnTo>
                  <a:pt x="0" y="328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4400" y="5166360"/>
            <a:ext cx="9875520" cy="256032"/>
          </a:xfrm>
          <a:custGeom>
            <a:avLst/>
            <a:gdLst/>
            <a:ahLst/>
            <a:cxnLst/>
            <a:rect l="l" t="t" r="r" b="b"/>
            <a:pathLst>
              <a:path w="9875520" h="256032">
                <a:moveTo>
                  <a:pt x="0" y="0"/>
                </a:moveTo>
                <a:lnTo>
                  <a:pt x="9875520" y="0"/>
                </a:lnTo>
                <a:lnTo>
                  <a:pt x="98755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246120" y="1197864"/>
            <a:ext cx="7132320" cy="256032"/>
          </a:xfrm>
          <a:custGeom>
            <a:avLst/>
            <a:gdLst/>
            <a:ahLst/>
            <a:cxnLst/>
            <a:rect l="l" t="t" r="r" b="b"/>
            <a:pathLst>
              <a:path w="7132320" h="256032">
                <a:moveTo>
                  <a:pt x="0" y="0"/>
                </a:moveTo>
                <a:lnTo>
                  <a:pt x="7132320" y="0"/>
                </a:lnTo>
                <a:lnTo>
                  <a:pt x="71323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246120" y="1883664"/>
            <a:ext cx="7132320" cy="256032"/>
          </a:xfrm>
          <a:custGeom>
            <a:avLst/>
            <a:gdLst/>
            <a:ahLst/>
            <a:cxnLst/>
            <a:rect l="l" t="t" r="r" b="b"/>
            <a:pathLst>
              <a:path w="7132320" h="256032">
                <a:moveTo>
                  <a:pt x="0" y="0"/>
                </a:moveTo>
                <a:lnTo>
                  <a:pt x="7132320" y="0"/>
                </a:lnTo>
                <a:lnTo>
                  <a:pt x="71323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246120" y="2569464"/>
            <a:ext cx="7132320" cy="256032"/>
          </a:xfrm>
          <a:custGeom>
            <a:avLst/>
            <a:gdLst/>
            <a:ahLst/>
            <a:cxnLst/>
            <a:rect l="l" t="t" r="r" b="b"/>
            <a:pathLst>
              <a:path w="7132320" h="256032">
                <a:moveTo>
                  <a:pt x="0" y="0"/>
                </a:moveTo>
                <a:lnTo>
                  <a:pt x="7132320" y="0"/>
                </a:lnTo>
                <a:lnTo>
                  <a:pt x="71323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246120" y="3255264"/>
            <a:ext cx="7132320" cy="256032"/>
          </a:xfrm>
          <a:custGeom>
            <a:avLst/>
            <a:gdLst/>
            <a:ahLst/>
            <a:cxnLst/>
            <a:rect l="l" t="t" r="r" b="b"/>
            <a:pathLst>
              <a:path w="7132320" h="256032">
                <a:moveTo>
                  <a:pt x="0" y="0"/>
                </a:moveTo>
                <a:lnTo>
                  <a:pt x="7132320" y="0"/>
                </a:lnTo>
                <a:lnTo>
                  <a:pt x="71323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246120" y="3941064"/>
            <a:ext cx="7132320" cy="256032"/>
          </a:xfrm>
          <a:custGeom>
            <a:avLst/>
            <a:gdLst/>
            <a:ahLst/>
            <a:cxnLst/>
            <a:rect l="l" t="t" r="r" b="b"/>
            <a:pathLst>
              <a:path w="7132320" h="256032">
                <a:moveTo>
                  <a:pt x="0" y="0"/>
                </a:moveTo>
                <a:lnTo>
                  <a:pt x="7132320" y="0"/>
                </a:lnTo>
                <a:lnTo>
                  <a:pt x="71323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12064" y="109442"/>
            <a:ext cx="3336588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Text Preprocessing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1114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46120" y="3921023"/>
            <a:ext cx="1553442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[free, prize, click]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46120" y="2549423"/>
            <a:ext cx="176132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free prize click now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46120" y="1863623"/>
            <a:ext cx="1979581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free prize!!! click now.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0352" y="528599"/>
            <a:ext cx="487028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Cleanandstandardizetextbeforeextracting features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46120" y="3235223"/>
            <a:ext cx="2048389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[free, prize, click, now]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46120" y="1177823"/>
            <a:ext cx="2346846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FREE prize!!! Click NOW.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400" y="5146319"/>
            <a:ext cx="9253718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Not every NLP task needs every preprocessing step; choose steps based on the model and problem.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79940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4400" y="1220200"/>
            <a:ext cx="745369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Raw text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400" y="3277600"/>
            <a:ext cx="761876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Tokenize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1906000"/>
            <a:ext cx="936889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Lowercase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4400" y="3991975"/>
            <a:ext cx="1650159" cy="44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Optional stopword removal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4400" y="2591800"/>
            <a:ext cx="1791976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Remove punctuation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44553" y="1170937"/>
            <a:ext cx="4705350" cy="2529088"/>
          </a:xfrm>
          <a:custGeom>
            <a:avLst/>
            <a:gdLst/>
            <a:ahLst/>
            <a:cxnLst/>
            <a:rect l="l" t="t" r="r" b="b"/>
            <a:pathLst>
              <a:path w="4705350" h="2529088">
                <a:moveTo>
                  <a:pt x="0" y="0"/>
                </a:moveTo>
                <a:lnTo>
                  <a:pt x="4705350" y="0"/>
                </a:lnTo>
                <a:lnTo>
                  <a:pt x="4705350" y="2529087"/>
                </a:lnTo>
                <a:lnTo>
                  <a:pt x="0" y="25290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400" y="5029200"/>
            <a:ext cx="10058400" cy="256032"/>
          </a:xfrm>
          <a:custGeom>
            <a:avLst/>
            <a:gdLst/>
            <a:ahLst/>
            <a:cxnLst/>
            <a:rect l="l" t="t" r="r" b="b"/>
            <a:pathLst>
              <a:path w="10058400" h="256032">
                <a:moveTo>
                  <a:pt x="0" y="0"/>
                </a:moveTo>
                <a:lnTo>
                  <a:pt x="10058400" y="0"/>
                </a:lnTo>
                <a:lnTo>
                  <a:pt x="100584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30953" y="1170937"/>
            <a:ext cx="4705350" cy="2529088"/>
          </a:xfrm>
          <a:custGeom>
            <a:avLst/>
            <a:gdLst/>
            <a:ahLst/>
            <a:cxnLst/>
            <a:rect l="l" t="t" r="r" b="b"/>
            <a:pathLst>
              <a:path w="4705350" h="2529088">
                <a:moveTo>
                  <a:pt x="0" y="0"/>
                </a:moveTo>
                <a:lnTo>
                  <a:pt x="4705350" y="0"/>
                </a:lnTo>
                <a:lnTo>
                  <a:pt x="4705350" y="2529087"/>
                </a:lnTo>
                <a:lnTo>
                  <a:pt x="0" y="25290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12064" y="109442"/>
            <a:ext cx="4994186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Stemming vs. Lemmatization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1581302"/>
            <a:ext cx="4191086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Rule-based chopping. Fast, but may produce non-words.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13596" y="5009159"/>
            <a:ext cx="5975423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Stemming is mechanical; lemmatization is more language-aware.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0800" y="1581302"/>
            <a:ext cx="4710189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Uses vocabulary and grammar. Slower, but returns valid base forms.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79940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" y="1220210"/>
            <a:ext cx="1126217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Stemming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0" y="1220210"/>
            <a:ext cx="1631271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Lemmatization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7739" y="2337949"/>
            <a:ext cx="561623" cy="116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"/>
              </a:lnSpc>
            </a:pPr>
            <a:r>
              <a:rPr lang="en-US" sz="12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word </a:t>
            </a: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studies</a:t>
            </a:r>
          </a:p>
          <a:p>
            <a:pPr algn="ctr">
              <a:lnSpc>
                <a:spcPts val="2736"/>
              </a:lnSpc>
              <a:spcBef>
                <a:spcPts val="2668"/>
              </a:spcBef>
            </a:pP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wolves running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67658" y="2337949"/>
            <a:ext cx="393049" cy="116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"/>
              </a:lnSpc>
            </a:pPr>
            <a:r>
              <a:rPr lang="en-US" sz="12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stem </a:t>
            </a: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studi</a:t>
            </a:r>
          </a:p>
          <a:p>
            <a:pPr algn="ctr">
              <a:lnSpc>
                <a:spcPts val="2736"/>
              </a:lnSpc>
              <a:spcBef>
                <a:spcPts val="2668"/>
              </a:spcBef>
            </a:pP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wolv run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7960" y="2337949"/>
            <a:ext cx="533333" cy="116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"/>
              </a:lnSpc>
            </a:pPr>
            <a:r>
              <a:rPr lang="en-US" sz="12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word </a:t>
            </a: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studies</a:t>
            </a:r>
          </a:p>
          <a:p>
            <a:pPr algn="ctr">
              <a:lnSpc>
                <a:spcPts val="2736"/>
              </a:lnSpc>
              <a:spcBef>
                <a:spcPts val="2668"/>
              </a:spcBef>
            </a:pP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wolves better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85230" y="2337949"/>
            <a:ext cx="533333" cy="116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"/>
              </a:lnSpc>
            </a:pPr>
            <a:r>
              <a:rPr lang="en-US" sz="12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lemma </a:t>
            </a: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study</a:t>
            </a:r>
          </a:p>
          <a:p>
            <a:pPr algn="ctr">
              <a:lnSpc>
                <a:spcPts val="2736"/>
              </a:lnSpc>
              <a:spcBef>
                <a:spcPts val="2668"/>
              </a:spcBef>
            </a:pP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wolf good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77240" y="1828800"/>
            <a:ext cx="3108960" cy="228600"/>
          </a:xfrm>
          <a:custGeom>
            <a:avLst/>
            <a:gdLst/>
            <a:ahLst/>
            <a:cxnLst/>
            <a:rect l="l" t="t" r="r" b="b"/>
            <a:pathLst>
              <a:path w="3108960" h="228600">
                <a:moveTo>
                  <a:pt x="0" y="0"/>
                </a:moveTo>
                <a:lnTo>
                  <a:pt x="3108960" y="0"/>
                </a:lnTo>
                <a:lnTo>
                  <a:pt x="310896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7240" y="2286000"/>
            <a:ext cx="3108960" cy="219456"/>
          </a:xfrm>
          <a:custGeom>
            <a:avLst/>
            <a:gdLst/>
            <a:ahLst/>
            <a:cxnLst/>
            <a:rect l="l" t="t" r="r" b="b"/>
            <a:pathLst>
              <a:path w="3108960" h="219456">
                <a:moveTo>
                  <a:pt x="0" y="0"/>
                </a:moveTo>
                <a:lnTo>
                  <a:pt x="3108960" y="0"/>
                </a:lnTo>
                <a:lnTo>
                  <a:pt x="310896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7240" y="2788920"/>
            <a:ext cx="3108960" cy="274320"/>
          </a:xfrm>
          <a:custGeom>
            <a:avLst/>
            <a:gdLst/>
            <a:ahLst/>
            <a:cxnLst/>
            <a:rect l="l" t="t" r="r" b="b"/>
            <a:pathLst>
              <a:path w="3108960" h="274320">
                <a:moveTo>
                  <a:pt x="0" y="0"/>
                </a:moveTo>
                <a:lnTo>
                  <a:pt x="3108960" y="0"/>
                </a:lnTo>
                <a:lnTo>
                  <a:pt x="310896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7240" y="3246120"/>
            <a:ext cx="3108960" cy="411480"/>
          </a:xfrm>
          <a:custGeom>
            <a:avLst/>
            <a:gdLst/>
            <a:ahLst/>
            <a:cxnLst/>
            <a:rect l="l" t="t" r="r" b="b"/>
            <a:pathLst>
              <a:path w="3108960" h="411480">
                <a:moveTo>
                  <a:pt x="0" y="0"/>
                </a:moveTo>
                <a:lnTo>
                  <a:pt x="3108960" y="0"/>
                </a:lnTo>
                <a:lnTo>
                  <a:pt x="310896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343400" y="1828800"/>
            <a:ext cx="3108960" cy="228600"/>
          </a:xfrm>
          <a:custGeom>
            <a:avLst/>
            <a:gdLst/>
            <a:ahLst/>
            <a:cxnLst/>
            <a:rect l="l" t="t" r="r" b="b"/>
            <a:pathLst>
              <a:path w="3108960" h="228600">
                <a:moveTo>
                  <a:pt x="0" y="0"/>
                </a:moveTo>
                <a:lnTo>
                  <a:pt x="3108960" y="0"/>
                </a:lnTo>
                <a:lnTo>
                  <a:pt x="310896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343400" y="2286000"/>
            <a:ext cx="3108960" cy="219456"/>
          </a:xfrm>
          <a:custGeom>
            <a:avLst/>
            <a:gdLst/>
            <a:ahLst/>
            <a:cxnLst/>
            <a:rect l="l" t="t" r="r" b="b"/>
            <a:pathLst>
              <a:path w="3108960" h="219456">
                <a:moveTo>
                  <a:pt x="0" y="0"/>
                </a:moveTo>
                <a:lnTo>
                  <a:pt x="3108960" y="0"/>
                </a:lnTo>
                <a:lnTo>
                  <a:pt x="310896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343400" y="2788920"/>
            <a:ext cx="3108960" cy="384048"/>
          </a:xfrm>
          <a:custGeom>
            <a:avLst/>
            <a:gdLst/>
            <a:ahLst/>
            <a:cxnLst/>
            <a:rect l="l" t="t" r="r" b="b"/>
            <a:pathLst>
              <a:path w="3108960" h="384048">
                <a:moveTo>
                  <a:pt x="0" y="0"/>
                </a:moveTo>
                <a:lnTo>
                  <a:pt x="3108960" y="0"/>
                </a:lnTo>
                <a:lnTo>
                  <a:pt x="3108960" y="384048"/>
                </a:lnTo>
                <a:lnTo>
                  <a:pt x="0" y="38404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343400" y="3337560"/>
            <a:ext cx="3108960" cy="548640"/>
          </a:xfrm>
          <a:custGeom>
            <a:avLst/>
            <a:gdLst/>
            <a:ahLst/>
            <a:cxnLst/>
            <a:rect l="l" t="t" r="r" b="b"/>
            <a:pathLst>
              <a:path w="3108960" h="548640">
                <a:moveTo>
                  <a:pt x="0" y="0"/>
                </a:moveTo>
                <a:lnTo>
                  <a:pt x="3108960" y="0"/>
                </a:lnTo>
                <a:lnTo>
                  <a:pt x="310896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400" y="1234440"/>
            <a:ext cx="9601200" cy="256032"/>
          </a:xfrm>
          <a:custGeom>
            <a:avLst/>
            <a:gdLst/>
            <a:ahLst/>
            <a:cxnLst/>
            <a:rect l="l" t="t" r="r" b="b"/>
            <a:pathLst>
              <a:path w="9601200" h="256032">
                <a:moveTo>
                  <a:pt x="0" y="0"/>
                </a:moveTo>
                <a:lnTo>
                  <a:pt x="9601200" y="0"/>
                </a:lnTo>
                <a:lnTo>
                  <a:pt x="96012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585016" y="2662504"/>
            <a:ext cx="2236803" cy="600304"/>
          </a:xfrm>
          <a:custGeom>
            <a:avLst/>
            <a:gdLst/>
            <a:ahLst/>
            <a:cxnLst/>
            <a:rect l="l" t="t" r="r" b="b"/>
            <a:pathLst>
              <a:path w="2236803" h="600304">
                <a:moveTo>
                  <a:pt x="0" y="0"/>
                </a:moveTo>
                <a:lnTo>
                  <a:pt x="2236803" y="0"/>
                </a:lnTo>
                <a:lnTo>
                  <a:pt x="2236803" y="600304"/>
                </a:lnTo>
                <a:lnTo>
                  <a:pt x="0" y="60030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14400" y="5029200"/>
            <a:ext cx="10515600" cy="256032"/>
          </a:xfrm>
          <a:custGeom>
            <a:avLst/>
            <a:gdLst/>
            <a:ahLst/>
            <a:cxnLst/>
            <a:rect l="l" t="t" r="r" b="b"/>
            <a:pathLst>
              <a:path w="10515600" h="256032">
                <a:moveTo>
                  <a:pt x="0" y="0"/>
                </a:moveTo>
                <a:lnTo>
                  <a:pt x="10515600" y="0"/>
                </a:lnTo>
                <a:lnTo>
                  <a:pt x="105156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09560" y="1828800"/>
            <a:ext cx="3108960" cy="228600"/>
          </a:xfrm>
          <a:custGeom>
            <a:avLst/>
            <a:gdLst/>
            <a:ahLst/>
            <a:cxnLst/>
            <a:rect l="l" t="t" r="r" b="b"/>
            <a:pathLst>
              <a:path w="3108960" h="228600">
                <a:moveTo>
                  <a:pt x="0" y="0"/>
                </a:moveTo>
                <a:lnTo>
                  <a:pt x="3108960" y="0"/>
                </a:lnTo>
                <a:lnTo>
                  <a:pt x="310896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909560" y="2286000"/>
            <a:ext cx="3108960" cy="219456"/>
          </a:xfrm>
          <a:custGeom>
            <a:avLst/>
            <a:gdLst/>
            <a:ahLst/>
            <a:cxnLst/>
            <a:rect l="l" t="t" r="r" b="b"/>
            <a:pathLst>
              <a:path w="3108960" h="219456">
                <a:moveTo>
                  <a:pt x="0" y="0"/>
                </a:moveTo>
                <a:lnTo>
                  <a:pt x="3108960" y="0"/>
                </a:lnTo>
                <a:lnTo>
                  <a:pt x="310896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909560" y="3566160"/>
            <a:ext cx="3108960" cy="411480"/>
          </a:xfrm>
          <a:custGeom>
            <a:avLst/>
            <a:gdLst/>
            <a:ahLst/>
            <a:cxnLst/>
            <a:rect l="l" t="t" r="r" b="b"/>
            <a:pathLst>
              <a:path w="3108960" h="411480">
                <a:moveTo>
                  <a:pt x="0" y="0"/>
                </a:moveTo>
                <a:lnTo>
                  <a:pt x="3108960" y="0"/>
                </a:lnTo>
                <a:lnTo>
                  <a:pt x="3108960" y="411480"/>
                </a:lnTo>
                <a:lnTo>
                  <a:pt x="0" y="4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12064" y="109442"/>
            <a:ext cx="7182060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Vectorization Converts Text into Numbers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51977" y="1214399"/>
            <a:ext cx="1830762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Example document: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59415" y="1214399"/>
            <a:ext cx="185335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“free prize free now”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85989" y="5009159"/>
            <a:ext cx="9351750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BoW and TF-IDF create document feature vectors. Word2Vec learns embeddings for individual words.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79940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7034" y="2812790"/>
            <a:ext cx="2498179" cy="882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[2, 1, 1, 0]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Document vector of raw counts “free” appears twice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5389" y="1814570"/>
            <a:ext cx="3072174" cy="70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Bag of Words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Vocabulary: [free, prize, now, meeting]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211413" y="1814570"/>
            <a:ext cx="1400613" cy="70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TF-IDF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Same vocabulary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80053" y="1852670"/>
            <a:ext cx="1828352" cy="142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Word2Vec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 vector for each word</a:t>
            </a:r>
          </a:p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free → [0.12, -0.41, …] prize → [0.27, -0.18, …] now → [-0.05, 0.31, …]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56017" y="3342646"/>
            <a:ext cx="2737028" cy="44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Weighted document vector Weights depend on the full corpus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7361" y="3571246"/>
            <a:ext cx="2217258" cy="44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Dense learned embeddings One vector per word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93253" y="2795730"/>
            <a:ext cx="2455107" cy="4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[TF-IDF(free), TF-IDF(prize), TF-IDF(now), 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" y="1664208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" y="2880360"/>
            <a:ext cx="4114800" cy="548640"/>
          </a:xfrm>
          <a:custGeom>
            <a:avLst/>
            <a:gdLst/>
            <a:ahLst/>
            <a:cxnLst/>
            <a:rect l="l" t="t" r="r" b="b"/>
            <a:pathLst>
              <a:path w="4114800" h="548640">
                <a:moveTo>
                  <a:pt x="0" y="0"/>
                </a:moveTo>
                <a:lnTo>
                  <a:pt x="4114800" y="0"/>
                </a:lnTo>
                <a:lnTo>
                  <a:pt x="4114800" y="548640"/>
                </a:lnTo>
                <a:lnTo>
                  <a:pt x="0" y="54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400" y="1234440"/>
            <a:ext cx="3657600" cy="228600"/>
          </a:xfrm>
          <a:custGeom>
            <a:avLst/>
            <a:gdLst/>
            <a:ahLst/>
            <a:cxnLst/>
            <a:rect l="l" t="t" r="r" b="b"/>
            <a:pathLst>
              <a:path w="3657600" h="228600">
                <a:moveTo>
                  <a:pt x="0" y="0"/>
                </a:moveTo>
                <a:lnTo>
                  <a:pt x="3657600" y="0"/>
                </a:lnTo>
                <a:lnTo>
                  <a:pt x="3657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303520" y="3520440"/>
            <a:ext cx="5303520" cy="256032"/>
          </a:xfrm>
          <a:custGeom>
            <a:avLst/>
            <a:gdLst/>
            <a:ahLst/>
            <a:cxnLst/>
            <a:rect l="l" t="t" r="r" b="b"/>
            <a:pathLst>
              <a:path w="5303520" h="256032">
                <a:moveTo>
                  <a:pt x="0" y="0"/>
                </a:moveTo>
                <a:lnTo>
                  <a:pt x="5303520" y="0"/>
                </a:lnTo>
                <a:lnTo>
                  <a:pt x="530352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577840" y="1234440"/>
            <a:ext cx="4572000" cy="228600"/>
          </a:xfrm>
          <a:custGeom>
            <a:avLst/>
            <a:gdLst/>
            <a:ahLst/>
            <a:cxnLst/>
            <a:rect l="l" t="t" r="r" b="b"/>
            <a:pathLst>
              <a:path w="4572000" h="228600">
                <a:moveTo>
                  <a:pt x="0" y="0"/>
                </a:moveTo>
                <a:lnTo>
                  <a:pt x="4572000" y="0"/>
                </a:lnTo>
                <a:lnTo>
                  <a:pt x="4572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233673" y="1576073"/>
            <a:ext cx="4665974" cy="1675895"/>
            <a:chOff x="0" y="0"/>
            <a:chExt cx="4665980" cy="1675905"/>
          </a:xfrm>
        </p:grpSpPr>
        <p:sp>
          <p:nvSpPr>
            <p:cNvPr id="14" name="Freeform 14"/>
            <p:cNvSpPr/>
            <p:nvPr/>
          </p:nvSpPr>
          <p:spPr>
            <a:xfrm>
              <a:off x="69850" y="69850"/>
              <a:ext cx="4526285" cy="1536197"/>
            </a:xfrm>
            <a:custGeom>
              <a:avLst/>
              <a:gdLst/>
              <a:ahLst/>
              <a:cxnLst/>
              <a:rect l="l" t="t" r="r" b="b"/>
              <a:pathLst>
                <a:path w="4526285" h="1536197">
                  <a:moveTo>
                    <a:pt x="0" y="0"/>
                  </a:moveTo>
                  <a:lnTo>
                    <a:pt x="4526285" y="0"/>
                  </a:lnTo>
                  <a:lnTo>
                    <a:pt x="4526285" y="1536197"/>
                  </a:lnTo>
                  <a:lnTo>
                    <a:pt x="0" y="1536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BF5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69850" y="69850"/>
              <a:ext cx="548641" cy="384049"/>
            </a:xfrm>
            <a:custGeom>
              <a:avLst/>
              <a:gdLst/>
              <a:ahLst/>
              <a:cxnLst/>
              <a:rect l="l" t="t" r="r" b="b"/>
              <a:pathLst>
                <a:path w="548641" h="384049">
                  <a:moveTo>
                    <a:pt x="0" y="0"/>
                  </a:moveTo>
                  <a:lnTo>
                    <a:pt x="548641" y="0"/>
                  </a:lnTo>
                  <a:lnTo>
                    <a:pt x="54864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2F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18491" y="69850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0" y="0"/>
                  </a:lnTo>
                  <a:lnTo>
                    <a:pt x="640080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2F8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258571" y="69850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2F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898652" y="69850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2F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538732" y="69850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2F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178813" y="69850"/>
              <a:ext cx="777241" cy="384049"/>
            </a:xfrm>
            <a:custGeom>
              <a:avLst/>
              <a:gdLst/>
              <a:ahLst/>
              <a:cxnLst/>
              <a:rect l="l" t="t" r="r" b="b"/>
              <a:pathLst>
                <a:path w="777241" h="384049">
                  <a:moveTo>
                    <a:pt x="0" y="0"/>
                  </a:moveTo>
                  <a:lnTo>
                    <a:pt x="777241" y="0"/>
                  </a:lnTo>
                  <a:lnTo>
                    <a:pt x="77724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2F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3956054" y="69850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F2F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69850" y="453899"/>
              <a:ext cx="548641" cy="384049"/>
            </a:xfrm>
            <a:custGeom>
              <a:avLst/>
              <a:gdLst/>
              <a:ahLst/>
              <a:cxnLst/>
              <a:rect l="l" t="t" r="r" b="b"/>
              <a:pathLst>
                <a:path w="548641" h="384049">
                  <a:moveTo>
                    <a:pt x="0" y="0"/>
                  </a:moveTo>
                  <a:lnTo>
                    <a:pt x="548641" y="0"/>
                  </a:lnTo>
                  <a:lnTo>
                    <a:pt x="548641" y="384050"/>
                  </a:lnTo>
                  <a:lnTo>
                    <a:pt x="0" y="384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618491" y="45389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0" y="0"/>
                  </a:lnTo>
                  <a:lnTo>
                    <a:pt x="640080" y="384050"/>
                  </a:lnTo>
                  <a:lnTo>
                    <a:pt x="0" y="384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258571" y="45389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50"/>
                  </a:lnTo>
                  <a:lnTo>
                    <a:pt x="0" y="384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898652" y="45389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50"/>
                  </a:lnTo>
                  <a:lnTo>
                    <a:pt x="0" y="384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538732" y="45389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50"/>
                  </a:lnTo>
                  <a:lnTo>
                    <a:pt x="0" y="384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3178813" y="453899"/>
              <a:ext cx="777241" cy="384049"/>
            </a:xfrm>
            <a:custGeom>
              <a:avLst/>
              <a:gdLst/>
              <a:ahLst/>
              <a:cxnLst/>
              <a:rect l="l" t="t" r="r" b="b"/>
              <a:pathLst>
                <a:path w="777241" h="384049">
                  <a:moveTo>
                    <a:pt x="0" y="0"/>
                  </a:moveTo>
                  <a:lnTo>
                    <a:pt x="777241" y="0"/>
                  </a:lnTo>
                  <a:lnTo>
                    <a:pt x="777241" y="384050"/>
                  </a:lnTo>
                  <a:lnTo>
                    <a:pt x="0" y="384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3956054" y="45389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50"/>
                  </a:lnTo>
                  <a:lnTo>
                    <a:pt x="0" y="384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69850" y="837949"/>
              <a:ext cx="548641" cy="384049"/>
            </a:xfrm>
            <a:custGeom>
              <a:avLst/>
              <a:gdLst/>
              <a:ahLst/>
              <a:cxnLst/>
              <a:rect l="l" t="t" r="r" b="b"/>
              <a:pathLst>
                <a:path w="548641" h="384049">
                  <a:moveTo>
                    <a:pt x="0" y="0"/>
                  </a:moveTo>
                  <a:lnTo>
                    <a:pt x="548641" y="0"/>
                  </a:lnTo>
                  <a:lnTo>
                    <a:pt x="54864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618491" y="83794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0" y="0"/>
                  </a:lnTo>
                  <a:lnTo>
                    <a:pt x="640080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258571" y="83794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898652" y="83794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538732" y="83794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3178813" y="837949"/>
              <a:ext cx="777241" cy="384049"/>
            </a:xfrm>
            <a:custGeom>
              <a:avLst/>
              <a:gdLst/>
              <a:ahLst/>
              <a:cxnLst/>
              <a:rect l="l" t="t" r="r" b="b"/>
              <a:pathLst>
                <a:path w="777241" h="384049">
                  <a:moveTo>
                    <a:pt x="0" y="0"/>
                  </a:moveTo>
                  <a:lnTo>
                    <a:pt x="777241" y="0"/>
                  </a:lnTo>
                  <a:lnTo>
                    <a:pt x="77724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3956054" y="837949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69850" y="1221998"/>
              <a:ext cx="548641" cy="384049"/>
            </a:xfrm>
            <a:custGeom>
              <a:avLst/>
              <a:gdLst/>
              <a:ahLst/>
              <a:cxnLst/>
              <a:rect l="l" t="t" r="r" b="b"/>
              <a:pathLst>
                <a:path w="548641" h="384049">
                  <a:moveTo>
                    <a:pt x="0" y="0"/>
                  </a:moveTo>
                  <a:lnTo>
                    <a:pt x="548641" y="0"/>
                  </a:lnTo>
                  <a:lnTo>
                    <a:pt x="54864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618491" y="1221998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0" y="0"/>
                  </a:lnTo>
                  <a:lnTo>
                    <a:pt x="640080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258571" y="1221998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898652" y="1221998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538732" y="1221998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3178813" y="1221998"/>
              <a:ext cx="777241" cy="384049"/>
            </a:xfrm>
            <a:custGeom>
              <a:avLst/>
              <a:gdLst/>
              <a:ahLst/>
              <a:cxnLst/>
              <a:rect l="l" t="t" r="r" b="b"/>
              <a:pathLst>
                <a:path w="777241" h="384049">
                  <a:moveTo>
                    <a:pt x="0" y="0"/>
                  </a:moveTo>
                  <a:lnTo>
                    <a:pt x="777241" y="0"/>
                  </a:lnTo>
                  <a:lnTo>
                    <a:pt x="77724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3956054" y="1221998"/>
              <a:ext cx="640081" cy="384049"/>
            </a:xfrm>
            <a:custGeom>
              <a:avLst/>
              <a:gdLst/>
              <a:ahLst/>
              <a:cxnLst/>
              <a:rect l="l" t="t" r="r" b="b"/>
              <a:pathLst>
                <a:path w="640081" h="384049">
                  <a:moveTo>
                    <a:pt x="0" y="0"/>
                  </a:moveTo>
                  <a:lnTo>
                    <a:pt x="640081" y="0"/>
                  </a:lnTo>
                  <a:lnTo>
                    <a:pt x="640081" y="384049"/>
                  </a:lnTo>
                  <a:lnTo>
                    <a:pt x="0" y="384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63500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612141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1252221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1892302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2532382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3172463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3949704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4589785" y="65151"/>
              <a:ext cx="12700" cy="1545595"/>
            </a:xfrm>
            <a:custGeom>
              <a:avLst/>
              <a:gdLst/>
              <a:ahLst/>
              <a:cxnLst/>
              <a:rect l="l" t="t" r="r" b="b"/>
              <a:pathLst>
                <a:path w="12700" h="1545595">
                  <a:moveTo>
                    <a:pt x="12700" y="0"/>
                  </a:moveTo>
                  <a:lnTo>
                    <a:pt x="12700" y="1545595"/>
                  </a:lnTo>
                  <a:lnTo>
                    <a:pt x="0" y="1545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65151" y="63500"/>
              <a:ext cx="4535682" cy="12700"/>
            </a:xfrm>
            <a:custGeom>
              <a:avLst/>
              <a:gdLst/>
              <a:ahLst/>
              <a:cxnLst/>
              <a:rect l="l" t="t" r="r" b="b"/>
              <a:pathLst>
                <a:path w="4535682" h="12700">
                  <a:moveTo>
                    <a:pt x="0" y="0"/>
                  </a:moveTo>
                  <a:lnTo>
                    <a:pt x="4535683" y="0"/>
                  </a:lnTo>
                  <a:lnTo>
                    <a:pt x="453568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65151" y="434849"/>
              <a:ext cx="4535682" cy="38100"/>
            </a:xfrm>
            <a:custGeom>
              <a:avLst/>
              <a:gdLst/>
              <a:ahLst/>
              <a:cxnLst/>
              <a:rect l="l" t="t" r="r" b="b"/>
              <a:pathLst>
                <a:path w="4535682" h="38100">
                  <a:moveTo>
                    <a:pt x="0" y="0"/>
                  </a:moveTo>
                  <a:lnTo>
                    <a:pt x="4535683" y="0"/>
                  </a:lnTo>
                  <a:lnTo>
                    <a:pt x="453568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65151" y="831599"/>
              <a:ext cx="4535682" cy="12700"/>
            </a:xfrm>
            <a:custGeom>
              <a:avLst/>
              <a:gdLst/>
              <a:ahLst/>
              <a:cxnLst/>
              <a:rect l="l" t="t" r="r" b="b"/>
              <a:pathLst>
                <a:path w="4535682" h="12700">
                  <a:moveTo>
                    <a:pt x="0" y="0"/>
                  </a:moveTo>
                  <a:lnTo>
                    <a:pt x="4535683" y="0"/>
                  </a:lnTo>
                  <a:lnTo>
                    <a:pt x="453568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65151" y="1215648"/>
              <a:ext cx="4535682" cy="12700"/>
            </a:xfrm>
            <a:custGeom>
              <a:avLst/>
              <a:gdLst/>
              <a:ahLst/>
              <a:cxnLst/>
              <a:rect l="l" t="t" r="r" b="b"/>
              <a:pathLst>
                <a:path w="4535682" h="12700">
                  <a:moveTo>
                    <a:pt x="0" y="0"/>
                  </a:moveTo>
                  <a:lnTo>
                    <a:pt x="4535683" y="0"/>
                  </a:lnTo>
                  <a:lnTo>
                    <a:pt x="453568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65151" y="1599697"/>
              <a:ext cx="4535682" cy="12700"/>
            </a:xfrm>
            <a:custGeom>
              <a:avLst/>
              <a:gdLst/>
              <a:ahLst/>
              <a:cxnLst/>
              <a:rect l="l" t="t" r="r" b="b"/>
              <a:pathLst>
                <a:path w="4535682" h="12700">
                  <a:moveTo>
                    <a:pt x="0" y="0"/>
                  </a:moveTo>
                  <a:lnTo>
                    <a:pt x="4535683" y="0"/>
                  </a:lnTo>
                  <a:lnTo>
                    <a:pt x="4535683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6" name="Freeform 56"/>
          <p:cNvSpPr/>
          <p:nvPr/>
        </p:nvSpPr>
        <p:spPr>
          <a:xfrm>
            <a:off x="914400" y="4846320"/>
            <a:ext cx="10515600" cy="256032"/>
          </a:xfrm>
          <a:custGeom>
            <a:avLst/>
            <a:gdLst/>
            <a:ahLst/>
            <a:cxnLst/>
            <a:rect l="l" t="t" r="r" b="b"/>
            <a:pathLst>
              <a:path w="10515600" h="256032">
                <a:moveTo>
                  <a:pt x="0" y="0"/>
                </a:moveTo>
                <a:lnTo>
                  <a:pt x="10515600" y="0"/>
                </a:lnTo>
                <a:lnTo>
                  <a:pt x="105156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512064" y="109442"/>
            <a:ext cx="4918377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Bag of Words Counts Words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81866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4400" y="1672742"/>
            <a:ext cx="322297" cy="74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D1: D2: D3: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42949" y="1672742"/>
            <a:ext cx="1715319" cy="74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free free prize now free offer now team meeting now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30352" y="528599"/>
            <a:ext cx="6144958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Buildavocabulary,thencountwordoccurrencesineach document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458945" y="4826279"/>
            <a:ext cx="757156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Bag of Words ignores word order; it keeps only the count of each vocabulary word.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179940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14400" y="1220210"/>
            <a:ext cx="2588905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Three short documents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577840" y="1220210"/>
            <a:ext cx="2486311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Document-term matrix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14400" y="2885446"/>
            <a:ext cx="3435429" cy="442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Step 1: collect the vocabulary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Step 2: count each word in each document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882830" y="3496951"/>
            <a:ext cx="2332415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Columns = vocabulary words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511064" y="3496951"/>
            <a:ext cx="1546422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Rows = documents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169516" y="3496951"/>
            <a:ext cx="50235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17268" y="3496951"/>
            <a:ext cx="97203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433889" y="1731683"/>
            <a:ext cx="293484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Doc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032421" y="1731683"/>
            <a:ext cx="285093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free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634429" y="1731683"/>
            <a:ext cx="362502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prize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283025" y="1731683"/>
            <a:ext cx="345253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offer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914542" y="1731683"/>
            <a:ext cx="362817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team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508949" y="1731683"/>
            <a:ext cx="595522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meeting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357398" y="1731683"/>
            <a:ext cx="310429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now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5480437" y="2396614"/>
            <a:ext cx="198663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480437" y="2780662"/>
            <a:ext cx="198663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129833" y="239661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129833" y="2780662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769903" y="239661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6769903" y="2780662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409983" y="239661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409983" y="2780662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050054" y="239661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050054" y="2780662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758714" y="239661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758714" y="2780662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467383" y="239661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467383" y="2780662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59"/>
          </a:xfrm>
          <a:custGeom>
            <a:avLst/>
            <a:gdLst/>
            <a:ahLst/>
            <a:cxnLst/>
            <a:rect l="l" t="t" r="r" b="b"/>
            <a:pathLst>
              <a:path w="11820839" h="890759">
                <a:moveTo>
                  <a:pt x="0" y="0"/>
                </a:moveTo>
                <a:lnTo>
                  <a:pt x="11820840" y="0"/>
                </a:lnTo>
                <a:lnTo>
                  <a:pt x="11820840" y="890759"/>
                </a:lnTo>
                <a:lnTo>
                  <a:pt x="0" y="8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22996"/>
          </a:xfrm>
          <a:custGeom>
            <a:avLst/>
            <a:gdLst/>
            <a:ahLst/>
            <a:cxnLst/>
            <a:rect l="l" t="t" r="r" b="b"/>
            <a:pathLst>
              <a:path w="1828800" h="122996">
                <a:moveTo>
                  <a:pt x="0" y="0"/>
                </a:moveTo>
                <a:lnTo>
                  <a:pt x="1828800" y="0"/>
                </a:lnTo>
                <a:lnTo>
                  <a:pt x="1828800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5177" y="2936872"/>
            <a:ext cx="4424801" cy="888997"/>
          </a:xfrm>
          <a:custGeom>
            <a:avLst/>
            <a:gdLst/>
            <a:ahLst/>
            <a:cxnLst/>
            <a:rect l="l" t="t" r="r" b="b"/>
            <a:pathLst>
              <a:path w="4424801" h="888997">
                <a:moveTo>
                  <a:pt x="0" y="0"/>
                </a:moveTo>
                <a:lnTo>
                  <a:pt x="4424800" y="0"/>
                </a:lnTo>
                <a:lnTo>
                  <a:pt x="4424800" y="888997"/>
                </a:lnTo>
                <a:lnTo>
                  <a:pt x="0" y="888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98843" y="1170937"/>
            <a:ext cx="4437374" cy="1651244"/>
          </a:xfrm>
          <a:custGeom>
            <a:avLst/>
            <a:gdLst/>
            <a:ahLst/>
            <a:cxnLst/>
            <a:rect l="l" t="t" r="r" b="b"/>
            <a:pathLst>
              <a:path w="4437374" h="1651244">
                <a:moveTo>
                  <a:pt x="0" y="0"/>
                </a:moveTo>
                <a:lnTo>
                  <a:pt x="4437373" y="0"/>
                </a:lnTo>
                <a:lnTo>
                  <a:pt x="4437373" y="1651244"/>
                </a:lnTo>
                <a:lnTo>
                  <a:pt x="0" y="16512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8561" y="55369"/>
            <a:ext cx="8603504" cy="803072"/>
          </a:xfrm>
          <a:custGeom>
            <a:avLst/>
            <a:gdLst/>
            <a:ahLst/>
            <a:cxnLst/>
            <a:rect l="l" t="t" r="r" b="b"/>
            <a:pathLst>
              <a:path w="8603504" h="803072">
                <a:moveTo>
                  <a:pt x="0" y="0"/>
                </a:moveTo>
                <a:lnTo>
                  <a:pt x="8603504" y="0"/>
                </a:lnTo>
                <a:lnTo>
                  <a:pt x="8603504" y="803072"/>
                </a:lnTo>
                <a:lnTo>
                  <a:pt x="0" y="8030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8680" y="5048250"/>
            <a:ext cx="10515600" cy="246297"/>
          </a:xfrm>
          <a:custGeom>
            <a:avLst/>
            <a:gdLst/>
            <a:ahLst/>
            <a:cxnLst/>
            <a:rect l="l" t="t" r="r" b="b"/>
            <a:pathLst>
              <a:path w="10515600" h="246297">
                <a:moveTo>
                  <a:pt x="0" y="0"/>
                </a:moveTo>
                <a:lnTo>
                  <a:pt x="10515600" y="0"/>
                </a:lnTo>
                <a:lnTo>
                  <a:pt x="10515600" y="246297"/>
                </a:lnTo>
                <a:lnTo>
                  <a:pt x="0" y="2462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605777" y="1170937"/>
            <a:ext cx="5841997" cy="3555997"/>
          </a:xfrm>
          <a:custGeom>
            <a:avLst/>
            <a:gdLst/>
            <a:ahLst/>
            <a:cxnLst/>
            <a:rect l="l" t="t" r="r" b="b"/>
            <a:pathLst>
              <a:path w="5841997" h="3555997">
                <a:moveTo>
                  <a:pt x="0" y="0"/>
                </a:moveTo>
                <a:lnTo>
                  <a:pt x="5841997" y="0"/>
                </a:lnTo>
                <a:lnTo>
                  <a:pt x="5841997" y="3555997"/>
                </a:lnTo>
                <a:lnTo>
                  <a:pt x="0" y="35559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109960" y="6355080"/>
            <a:ext cx="183004" cy="122996"/>
          </a:xfrm>
          <a:custGeom>
            <a:avLst/>
            <a:gdLst/>
            <a:ahLst/>
            <a:cxnLst/>
            <a:rect l="l" t="t" r="r" b="b"/>
            <a:pathLst>
              <a:path w="183004" h="122996">
                <a:moveTo>
                  <a:pt x="0" y="0"/>
                </a:moveTo>
                <a:lnTo>
                  <a:pt x="183004" y="0"/>
                </a:lnTo>
                <a:lnTo>
                  <a:pt x="183004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2064" y="113957"/>
            <a:ext cx="8151847" cy="454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Multinomial Naive Bayes Learns from Word Counts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3890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0352" y="528599"/>
            <a:ext cx="4059679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CountsareusedtoestimateP(word | Class)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69280" y="3022244"/>
            <a:ext cx="5770855" cy="133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For the message </a:t>
            </a:r>
          </a:p>
          <a:p>
            <a:pPr algn="l">
              <a:lnSpc>
                <a:spcPts val="1919"/>
              </a:lnSpc>
              <a:spcBef>
                <a:spcPts val="374"/>
              </a:spcBef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Score(Spam)=P(Spam) × P(free | Spam) × P(prize | Spam) × P(offer | Spam)</a:t>
            </a:r>
          </a:p>
          <a:p>
            <a:pPr algn="l">
              <a:lnSpc>
                <a:spcPts val="1919"/>
              </a:lnSpc>
              <a:spcBef>
                <a:spcPts val="374"/>
              </a:spcBef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Score(Not Spam) contains </a:t>
            </a:r>
            <a:r>
              <a:rPr lang="en-US" sz="1599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P(prize | Not Spam) = 0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Therefore the whole Not Spam score becomes </a:t>
            </a:r>
            <a:r>
              <a:rPr lang="en-US" sz="1599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0</a:t>
            </a: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69280" y="1612544"/>
            <a:ext cx="2887809" cy="129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Before smoothing:</a:t>
            </a:r>
          </a:p>
          <a:p>
            <a:pPr algn="l">
              <a:lnSpc>
                <a:spcPts val="191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P(free | Spam) = 8 / 19</a:t>
            </a:r>
          </a:p>
          <a:p>
            <a:pPr algn="l">
              <a:lnSpc>
                <a:spcPts val="191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P(prize | Spam) = 5 / 19 P(offer | Spam) = 6 / 19 P(prize | Not Spam) = 0 / 9 = 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80064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8680" y="1220210"/>
            <a:ext cx="235480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Training word counts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69280" y="1220210"/>
            <a:ext cx="344231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Convert counts to probabilities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9401" y="1700260"/>
            <a:ext cx="805767" cy="90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Class </a:t>
            </a: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</a:p>
          <a:p>
            <a:pPr algn="ctr">
              <a:lnSpc>
                <a:spcPts val="700"/>
              </a:lnSpc>
              <a:spcBef>
                <a:spcPts val="2951"/>
              </a:spcBef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Not Spam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45859" y="1700260"/>
            <a:ext cx="332603" cy="90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free </a:t>
            </a: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algn="ctr">
              <a:lnSpc>
                <a:spcPts val="700"/>
              </a:lnSpc>
              <a:spcBef>
                <a:spcPts val="2951"/>
              </a:spcBef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78731" y="1700260"/>
            <a:ext cx="422920" cy="90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prize </a:t>
            </a: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  <a:p>
            <a:pPr algn="ctr">
              <a:lnSpc>
                <a:spcPts val="700"/>
              </a:lnSpc>
              <a:spcBef>
                <a:spcPts val="2951"/>
              </a:spcBef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665915" y="1700260"/>
            <a:ext cx="402793" cy="90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offer </a:t>
            </a: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  <a:p>
            <a:pPr algn="ctr">
              <a:lnSpc>
                <a:spcPts val="700"/>
              </a:lnSpc>
              <a:spcBef>
                <a:spcPts val="2951"/>
              </a:spcBef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68527" y="1700260"/>
            <a:ext cx="694773" cy="901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"/>
              </a:lnSpc>
            </a:pPr>
            <a:r>
              <a:rPr lang="en-US" sz="14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meeting </a:t>
            </a: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  <a:p>
            <a:pPr algn="ctr">
              <a:lnSpc>
                <a:spcPts val="700"/>
              </a:lnSpc>
              <a:spcBef>
                <a:spcPts val="2951"/>
              </a:spcBef>
            </a:pPr>
            <a:r>
              <a:rPr lang="en-US" sz="1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8680" y="2968990"/>
            <a:ext cx="4321350" cy="59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47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Total word count in Spam = 8 + 5 + 6 + 0 = 19 Total word count in Not Spam = 0 + 0 + 0 + 9 = 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17475" y="5038782"/>
            <a:ext cx="5521309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C00000"/>
                </a:solidFill>
                <a:latin typeface="Arial Bold"/>
                <a:ea typeface="Arial Bold"/>
                <a:cs typeface="Arial Bold"/>
                <a:sym typeface="Arial Bold"/>
              </a:rPr>
              <a:t>This zero-probability problem is why we use smoothing.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67625" y="299366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i="1" spc="1279">
                <a:solidFill>
                  <a:srgbClr val="222222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95115" y="299366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27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50049" y="2993669"/>
            <a:ext cx="1473232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i="1">
                <a:solidFill>
                  <a:srgbClr val="222222"/>
                </a:solidFill>
                <a:latin typeface="Arial Italics"/>
                <a:ea typeface="Arial Italics"/>
                <a:cs typeface="Arial Italics"/>
                <a:sym typeface="Arial Italics"/>
              </a:rPr>
              <a:t>“free</a:t>
            </a:r>
            <a:r>
              <a:rPr lang="en-US" sz="1599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1599" i="1">
                <a:solidFill>
                  <a:srgbClr val="222222"/>
                </a:solidFill>
                <a:latin typeface="Arial Italics"/>
                <a:ea typeface="Arial Italics"/>
                <a:cs typeface="Arial Italics"/>
                <a:sym typeface="Arial Italics"/>
              </a:rPr>
              <a:t>prize</a:t>
            </a:r>
            <a:r>
              <a:rPr lang="en-US" sz="1599" i="1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  <a:r>
              <a:rPr lang="en-US" sz="1599" i="1">
                <a:solidFill>
                  <a:srgbClr val="222222"/>
                </a:solidFill>
                <a:latin typeface="Arial Italics"/>
                <a:ea typeface="Arial Italics"/>
                <a:cs typeface="Arial Italics"/>
                <a:sym typeface="Arial Italics"/>
              </a:rPr>
              <a:t>offer”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59"/>
          </a:xfrm>
          <a:custGeom>
            <a:avLst/>
            <a:gdLst/>
            <a:ahLst/>
            <a:cxnLst/>
            <a:rect l="l" t="t" r="r" b="b"/>
            <a:pathLst>
              <a:path w="11820839" h="890759">
                <a:moveTo>
                  <a:pt x="0" y="0"/>
                </a:moveTo>
                <a:lnTo>
                  <a:pt x="11820840" y="0"/>
                </a:lnTo>
                <a:lnTo>
                  <a:pt x="11820840" y="890759"/>
                </a:lnTo>
                <a:lnTo>
                  <a:pt x="0" y="8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22996"/>
          </a:xfrm>
          <a:custGeom>
            <a:avLst/>
            <a:gdLst/>
            <a:ahLst/>
            <a:cxnLst/>
            <a:rect l="l" t="t" r="r" b="b"/>
            <a:pathLst>
              <a:path w="1828800" h="122996">
                <a:moveTo>
                  <a:pt x="0" y="0"/>
                </a:moveTo>
                <a:lnTo>
                  <a:pt x="1828800" y="0"/>
                </a:lnTo>
                <a:lnTo>
                  <a:pt x="1828800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98833" y="1170937"/>
            <a:ext cx="6382093" cy="1651264"/>
          </a:xfrm>
          <a:custGeom>
            <a:avLst/>
            <a:gdLst/>
            <a:ahLst/>
            <a:cxnLst/>
            <a:rect l="l" t="t" r="r" b="b"/>
            <a:pathLst>
              <a:path w="6382093" h="1651264">
                <a:moveTo>
                  <a:pt x="0" y="0"/>
                </a:moveTo>
                <a:lnTo>
                  <a:pt x="6382093" y="0"/>
                </a:lnTo>
                <a:lnTo>
                  <a:pt x="6382093" y="1651263"/>
                </a:lnTo>
                <a:lnTo>
                  <a:pt x="0" y="16512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561" y="55369"/>
            <a:ext cx="8603504" cy="803072"/>
          </a:xfrm>
          <a:custGeom>
            <a:avLst/>
            <a:gdLst/>
            <a:ahLst/>
            <a:cxnLst/>
            <a:rect l="l" t="t" r="r" b="b"/>
            <a:pathLst>
              <a:path w="8603504" h="803072">
                <a:moveTo>
                  <a:pt x="0" y="0"/>
                </a:moveTo>
                <a:lnTo>
                  <a:pt x="8603504" y="0"/>
                </a:lnTo>
                <a:lnTo>
                  <a:pt x="8603504" y="803072"/>
                </a:lnTo>
                <a:lnTo>
                  <a:pt x="0" y="803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8680" y="3190875"/>
            <a:ext cx="10454697" cy="952500"/>
          </a:xfrm>
          <a:custGeom>
            <a:avLst/>
            <a:gdLst/>
            <a:ahLst/>
            <a:cxnLst/>
            <a:rect l="l" t="t" r="r" b="b"/>
            <a:pathLst>
              <a:path w="10454697" h="952500">
                <a:moveTo>
                  <a:pt x="0" y="0"/>
                </a:moveTo>
                <a:lnTo>
                  <a:pt x="10454697" y="0"/>
                </a:lnTo>
                <a:lnTo>
                  <a:pt x="10454697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8680" y="4333875"/>
            <a:ext cx="10454697" cy="1238402"/>
          </a:xfrm>
          <a:custGeom>
            <a:avLst/>
            <a:gdLst/>
            <a:ahLst/>
            <a:cxnLst/>
            <a:rect l="l" t="t" r="r" b="b"/>
            <a:pathLst>
              <a:path w="10454697" h="1238402">
                <a:moveTo>
                  <a:pt x="0" y="0"/>
                </a:moveTo>
                <a:lnTo>
                  <a:pt x="10454697" y="0"/>
                </a:lnTo>
                <a:lnTo>
                  <a:pt x="10454697" y="1238402"/>
                </a:lnTo>
                <a:lnTo>
                  <a:pt x="0" y="12384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109960" y="6355080"/>
            <a:ext cx="183004" cy="122996"/>
          </a:xfrm>
          <a:custGeom>
            <a:avLst/>
            <a:gdLst/>
            <a:ahLst/>
            <a:cxnLst/>
            <a:rect l="l" t="t" r="r" b="b"/>
            <a:pathLst>
              <a:path w="183004" h="122996">
                <a:moveTo>
                  <a:pt x="0" y="0"/>
                </a:moveTo>
                <a:lnTo>
                  <a:pt x="183004" y="0"/>
                </a:lnTo>
                <a:lnTo>
                  <a:pt x="183004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508405" y="1170451"/>
            <a:ext cx="4437402" cy="1651264"/>
          </a:xfrm>
          <a:custGeom>
            <a:avLst/>
            <a:gdLst/>
            <a:ahLst/>
            <a:cxnLst/>
            <a:rect l="l" t="t" r="r" b="b"/>
            <a:pathLst>
              <a:path w="4437402" h="1651264">
                <a:moveTo>
                  <a:pt x="0" y="0"/>
                </a:moveTo>
                <a:lnTo>
                  <a:pt x="4437402" y="0"/>
                </a:lnTo>
                <a:lnTo>
                  <a:pt x="4437402" y="1651264"/>
                </a:lnTo>
                <a:lnTo>
                  <a:pt x="0" y="165126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2064" y="109442"/>
            <a:ext cx="7529170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Laplace Smoothing Fixes Zero Probabilities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80064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8680" y="1220210"/>
            <a:ext cx="199315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Before smoothing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9471" y="3176645"/>
            <a:ext cx="1786566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General formula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75370" y="3512868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8252" y="1219724"/>
            <a:ext cx="179892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After smoothing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1120" y="1724063"/>
            <a:ext cx="414576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Class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69071" y="1724063"/>
            <a:ext cx="285093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free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08259" y="1724063"/>
            <a:ext cx="362502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prize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694024" y="1724063"/>
            <a:ext cx="345253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offer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17028" y="1724063"/>
            <a:ext cx="595522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meeting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00692" y="1723577"/>
            <a:ext cx="414576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Class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78643" y="1723577"/>
            <a:ext cx="285093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free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17831" y="1723577"/>
            <a:ext cx="362502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prize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03605" y="1723577"/>
            <a:ext cx="345253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offer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26610" y="1723577"/>
            <a:ext cx="595522" cy="4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meeting </a:t>
            </a: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5646" y="2388994"/>
            <a:ext cx="690658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Not Spam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66474" y="238899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043723" y="238899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20973" y="238899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66802" y="2388994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65228" y="2388499"/>
            <a:ext cx="690658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Not Spam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976055" y="2388499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53305" y="2388499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530554" y="2388499"/>
            <a:ext cx="8643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33998" y="2388499"/>
            <a:ext cx="172860" cy="21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13255" y="2212315"/>
            <a:ext cx="1714490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+1 to every vocabulary count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548680" y="3512868"/>
            <a:ext cx="7229789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P(word | Class) = (count(word,Class)+1) / (total word count in Class + V)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95787" y="3780796"/>
            <a:ext cx="50235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77372" y="3780796"/>
            <a:ext cx="3097559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words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23929" y="4325950"/>
            <a:ext cx="5040973" cy="296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1664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Example: word “prize” inside the Not Spam class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363984" y="4632188"/>
            <a:ext cx="53102" cy="25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71016" y="4632188"/>
            <a:ext cx="2972029" cy="25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Here: count(prize,NotSpam)=0|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88907" y="4632188"/>
            <a:ext cx="3498494" cy="25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totalwordcountinNotSpam=9 | V = 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98687" y="5283317"/>
            <a:ext cx="7135406" cy="25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Smoothing prevents one zero count from making the whole Naive Bayes score zero.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159587" y="4924663"/>
            <a:ext cx="3948265" cy="25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1"/>
              </a:lnSpc>
            </a:pPr>
            <a:r>
              <a:rPr lang="en-US" sz="147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P(prize | Not Spam) = (0 + 1) / (9 + 4) = 1 / 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11"/>
          </a:xfrm>
          <a:custGeom>
            <a:avLst/>
            <a:gdLst/>
            <a:ahLst/>
            <a:cxnLst/>
            <a:rect l="l" t="t" r="r" b="b"/>
            <a:pathLst>
              <a:path w="11820839" h="890711">
                <a:moveTo>
                  <a:pt x="0" y="0"/>
                </a:moveTo>
                <a:lnTo>
                  <a:pt x="11820840" y="0"/>
                </a:lnTo>
                <a:lnTo>
                  <a:pt x="11820840" y="890711"/>
                </a:lnTo>
                <a:lnTo>
                  <a:pt x="0" y="89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82880"/>
          </a:xfrm>
          <a:custGeom>
            <a:avLst/>
            <a:gdLst/>
            <a:ahLst/>
            <a:cxnLst/>
            <a:rect l="l" t="t" r="r" b="b"/>
            <a:pathLst>
              <a:path w="1828800" h="182880">
                <a:moveTo>
                  <a:pt x="0" y="0"/>
                </a:moveTo>
                <a:lnTo>
                  <a:pt x="1828800" y="0"/>
                </a:lnTo>
                <a:lnTo>
                  <a:pt x="182880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8670" y="1234450"/>
            <a:ext cx="4388996" cy="277197"/>
          </a:xfrm>
          <a:custGeom>
            <a:avLst/>
            <a:gdLst/>
            <a:ahLst/>
            <a:cxnLst/>
            <a:rect l="l" t="t" r="r" b="b"/>
            <a:pathLst>
              <a:path w="4388996" h="277197">
                <a:moveTo>
                  <a:pt x="0" y="0"/>
                </a:moveTo>
                <a:lnTo>
                  <a:pt x="4388997" y="0"/>
                </a:lnTo>
                <a:lnTo>
                  <a:pt x="4388997" y="277196"/>
                </a:lnTo>
                <a:lnTo>
                  <a:pt x="0" y="2771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8680" y="1664208"/>
            <a:ext cx="4114800" cy="914400"/>
          </a:xfrm>
          <a:custGeom>
            <a:avLst/>
            <a:gdLst/>
            <a:ahLst/>
            <a:cxnLst/>
            <a:rect l="l" t="t" r="r" b="b"/>
            <a:pathLst>
              <a:path w="4114800" h="914400">
                <a:moveTo>
                  <a:pt x="0" y="0"/>
                </a:moveTo>
                <a:lnTo>
                  <a:pt x="4114800" y="0"/>
                </a:lnTo>
                <a:lnTo>
                  <a:pt x="4114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577840" y="1737360"/>
            <a:ext cx="914400" cy="219456"/>
          </a:xfrm>
          <a:custGeom>
            <a:avLst/>
            <a:gdLst/>
            <a:ahLst/>
            <a:cxnLst/>
            <a:rect l="l" t="t" r="r" b="b"/>
            <a:pathLst>
              <a:path w="914400" h="219456">
                <a:moveTo>
                  <a:pt x="0" y="0"/>
                </a:moveTo>
                <a:lnTo>
                  <a:pt x="914400" y="0"/>
                </a:lnTo>
                <a:lnTo>
                  <a:pt x="91440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577840" y="2286000"/>
            <a:ext cx="914400" cy="219456"/>
          </a:xfrm>
          <a:custGeom>
            <a:avLst/>
            <a:gdLst/>
            <a:ahLst/>
            <a:cxnLst/>
            <a:rect l="l" t="t" r="r" b="b"/>
            <a:pathLst>
              <a:path w="914400" h="219456">
                <a:moveTo>
                  <a:pt x="0" y="0"/>
                </a:moveTo>
                <a:lnTo>
                  <a:pt x="914400" y="0"/>
                </a:lnTo>
                <a:lnTo>
                  <a:pt x="91440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577840" y="2834640"/>
            <a:ext cx="914400" cy="219456"/>
          </a:xfrm>
          <a:custGeom>
            <a:avLst/>
            <a:gdLst/>
            <a:ahLst/>
            <a:cxnLst/>
            <a:rect l="l" t="t" r="r" b="b"/>
            <a:pathLst>
              <a:path w="914400" h="219456">
                <a:moveTo>
                  <a:pt x="0" y="0"/>
                </a:moveTo>
                <a:lnTo>
                  <a:pt x="914400" y="0"/>
                </a:lnTo>
                <a:lnTo>
                  <a:pt x="91440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29400" y="1737360"/>
            <a:ext cx="2011680" cy="219456"/>
          </a:xfrm>
          <a:custGeom>
            <a:avLst/>
            <a:gdLst/>
            <a:ahLst/>
            <a:cxnLst/>
            <a:rect l="l" t="t" r="r" b="b"/>
            <a:pathLst>
              <a:path w="2011680" h="219456">
                <a:moveTo>
                  <a:pt x="0" y="0"/>
                </a:moveTo>
                <a:lnTo>
                  <a:pt x="2011680" y="0"/>
                </a:lnTo>
                <a:lnTo>
                  <a:pt x="201168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29400" y="2286000"/>
            <a:ext cx="2011680" cy="219456"/>
          </a:xfrm>
          <a:custGeom>
            <a:avLst/>
            <a:gdLst/>
            <a:ahLst/>
            <a:cxnLst/>
            <a:rect l="l" t="t" r="r" b="b"/>
            <a:pathLst>
              <a:path w="2011680" h="219456">
                <a:moveTo>
                  <a:pt x="0" y="0"/>
                </a:moveTo>
                <a:lnTo>
                  <a:pt x="2011680" y="0"/>
                </a:lnTo>
                <a:lnTo>
                  <a:pt x="201168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629400" y="2834640"/>
            <a:ext cx="2011680" cy="219456"/>
          </a:xfrm>
          <a:custGeom>
            <a:avLst/>
            <a:gdLst/>
            <a:ahLst/>
            <a:cxnLst/>
            <a:rect l="l" t="t" r="r" b="b"/>
            <a:pathLst>
              <a:path w="2011680" h="219456">
                <a:moveTo>
                  <a:pt x="0" y="0"/>
                </a:moveTo>
                <a:lnTo>
                  <a:pt x="2011680" y="0"/>
                </a:lnTo>
                <a:lnTo>
                  <a:pt x="201168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48561" y="55369"/>
            <a:ext cx="8603485" cy="803653"/>
          </a:xfrm>
          <a:custGeom>
            <a:avLst/>
            <a:gdLst/>
            <a:ahLst/>
            <a:cxnLst/>
            <a:rect l="l" t="t" r="r" b="b"/>
            <a:pathLst>
              <a:path w="8603485" h="803653">
                <a:moveTo>
                  <a:pt x="0" y="0"/>
                </a:moveTo>
                <a:lnTo>
                  <a:pt x="8603485" y="0"/>
                </a:lnTo>
                <a:lnTo>
                  <a:pt x="8603485" y="803653"/>
                </a:lnTo>
                <a:lnTo>
                  <a:pt x="0" y="80365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577840" y="1234440"/>
            <a:ext cx="4389120" cy="228600"/>
          </a:xfrm>
          <a:custGeom>
            <a:avLst/>
            <a:gdLst/>
            <a:ahLst/>
            <a:cxnLst/>
            <a:rect l="l" t="t" r="r" b="b"/>
            <a:pathLst>
              <a:path w="4389120" h="228600">
                <a:moveTo>
                  <a:pt x="0" y="0"/>
                </a:moveTo>
                <a:lnTo>
                  <a:pt x="4389120" y="0"/>
                </a:lnTo>
                <a:lnTo>
                  <a:pt x="438912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052560" y="1737360"/>
            <a:ext cx="1463040" cy="219456"/>
          </a:xfrm>
          <a:custGeom>
            <a:avLst/>
            <a:gdLst/>
            <a:ahLst/>
            <a:cxnLst/>
            <a:rect l="l" t="t" r="r" b="b"/>
            <a:pathLst>
              <a:path w="1463040" h="219456">
                <a:moveTo>
                  <a:pt x="0" y="0"/>
                </a:moveTo>
                <a:lnTo>
                  <a:pt x="1463040" y="0"/>
                </a:lnTo>
                <a:lnTo>
                  <a:pt x="146304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052560" y="2286000"/>
            <a:ext cx="1463040" cy="219456"/>
          </a:xfrm>
          <a:custGeom>
            <a:avLst/>
            <a:gdLst/>
            <a:ahLst/>
            <a:cxnLst/>
            <a:rect l="l" t="t" r="r" b="b"/>
            <a:pathLst>
              <a:path w="1463040" h="219456">
                <a:moveTo>
                  <a:pt x="0" y="0"/>
                </a:moveTo>
                <a:lnTo>
                  <a:pt x="1463040" y="0"/>
                </a:lnTo>
                <a:lnTo>
                  <a:pt x="146304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52560" y="2834640"/>
            <a:ext cx="1463040" cy="219456"/>
          </a:xfrm>
          <a:custGeom>
            <a:avLst/>
            <a:gdLst/>
            <a:ahLst/>
            <a:cxnLst/>
            <a:rect l="l" t="t" r="r" b="b"/>
            <a:pathLst>
              <a:path w="1463040" h="219456">
                <a:moveTo>
                  <a:pt x="0" y="0"/>
                </a:moveTo>
                <a:lnTo>
                  <a:pt x="1463040" y="0"/>
                </a:lnTo>
                <a:lnTo>
                  <a:pt x="1463040" y="219456"/>
                </a:lnTo>
                <a:lnTo>
                  <a:pt x="0" y="21945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68680" y="3931920"/>
            <a:ext cx="10332720" cy="274320"/>
          </a:xfrm>
          <a:custGeom>
            <a:avLst/>
            <a:gdLst/>
            <a:ahLst/>
            <a:cxnLst/>
            <a:rect l="l" t="t" r="r" b="b"/>
            <a:pathLst>
              <a:path w="10332720" h="274320">
                <a:moveTo>
                  <a:pt x="0" y="0"/>
                </a:moveTo>
                <a:lnTo>
                  <a:pt x="10332720" y="0"/>
                </a:lnTo>
                <a:lnTo>
                  <a:pt x="10332720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68680" y="4434840"/>
            <a:ext cx="10332720" cy="320040"/>
          </a:xfrm>
          <a:custGeom>
            <a:avLst/>
            <a:gdLst/>
            <a:ahLst/>
            <a:cxnLst/>
            <a:rect l="l" t="t" r="r" b="b"/>
            <a:pathLst>
              <a:path w="10332720" h="320040">
                <a:moveTo>
                  <a:pt x="0" y="0"/>
                </a:moveTo>
                <a:lnTo>
                  <a:pt x="10332720" y="0"/>
                </a:lnTo>
                <a:lnTo>
                  <a:pt x="1033272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109960" y="635508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0" y="0"/>
                </a:moveTo>
                <a:lnTo>
                  <a:pt x="182880" y="0"/>
                </a:lnTo>
                <a:lnTo>
                  <a:pt x="182880" y="182880"/>
                </a:lnTo>
                <a:lnTo>
                  <a:pt x="0" y="18288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12064" y="109442"/>
            <a:ext cx="8220504" cy="1441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TF-IDF Gives More Weight to Informative Words</a:t>
            </a:r>
          </a:p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Same three documents as Bag of Words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680" y="1672742"/>
            <a:ext cx="322297" cy="74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D1: D2: D3: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7229" y="1672742"/>
            <a:ext cx="1715319" cy="74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free free prize now free offer now team meeting now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400" y="1717319"/>
            <a:ext cx="1588884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 of 3 documents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29400" y="2265959"/>
            <a:ext cx="1588884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 of 3 documents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29400" y="2814599"/>
            <a:ext cx="1588884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 of 3 documents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24833" y="4414799"/>
            <a:ext cx="6954126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word that appears everywhere is less useful for distinguishing documents.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79940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31195" y="3917690"/>
            <a:ext cx="6325724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TF-IDF = Term Frequency × Inverse Document Frequency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77840" y="1220210"/>
            <a:ext cx="403760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Document frequency → IDF intuition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77840" y="1727883"/>
            <a:ext cx="48333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prize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77840" y="2276523"/>
            <a:ext cx="380124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free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77840" y="2825163"/>
            <a:ext cx="413909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now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52560" y="1713871"/>
            <a:ext cx="846030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higher IDF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052560" y="2811151"/>
            <a:ext cx="855821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lowest IDF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52560" y="2262511"/>
            <a:ext cx="986942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medium IDF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59"/>
          </a:xfrm>
          <a:custGeom>
            <a:avLst/>
            <a:gdLst/>
            <a:ahLst/>
            <a:cxnLst/>
            <a:rect l="l" t="t" r="r" b="b"/>
            <a:pathLst>
              <a:path w="11820839" h="890759">
                <a:moveTo>
                  <a:pt x="0" y="0"/>
                </a:moveTo>
                <a:lnTo>
                  <a:pt x="11820840" y="0"/>
                </a:lnTo>
                <a:lnTo>
                  <a:pt x="11820840" y="890759"/>
                </a:lnTo>
                <a:lnTo>
                  <a:pt x="0" y="8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22996"/>
          </a:xfrm>
          <a:custGeom>
            <a:avLst/>
            <a:gdLst/>
            <a:ahLst/>
            <a:cxnLst/>
            <a:rect l="l" t="t" r="r" b="b"/>
            <a:pathLst>
              <a:path w="1828800" h="122996">
                <a:moveTo>
                  <a:pt x="0" y="0"/>
                </a:moveTo>
                <a:lnTo>
                  <a:pt x="1828800" y="0"/>
                </a:lnTo>
                <a:lnTo>
                  <a:pt x="1828800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2000" y="1524000"/>
            <a:ext cx="4381500" cy="381000"/>
          </a:xfrm>
          <a:custGeom>
            <a:avLst/>
            <a:gdLst/>
            <a:ahLst/>
            <a:cxnLst/>
            <a:rect l="l" t="t" r="r" b="b"/>
            <a:pathLst>
              <a:path w="4381500" h="381000">
                <a:moveTo>
                  <a:pt x="0" y="0"/>
                </a:moveTo>
                <a:lnTo>
                  <a:pt x="4381500" y="0"/>
                </a:lnTo>
                <a:lnTo>
                  <a:pt x="4381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62000" y="2047875"/>
            <a:ext cx="4381500" cy="333299"/>
          </a:xfrm>
          <a:custGeom>
            <a:avLst/>
            <a:gdLst/>
            <a:ahLst/>
            <a:cxnLst/>
            <a:rect l="l" t="t" r="r" b="b"/>
            <a:pathLst>
              <a:path w="4381500" h="333299">
                <a:moveTo>
                  <a:pt x="0" y="0"/>
                </a:moveTo>
                <a:lnTo>
                  <a:pt x="4381500" y="0"/>
                </a:lnTo>
                <a:lnTo>
                  <a:pt x="4381500" y="333299"/>
                </a:lnTo>
                <a:lnTo>
                  <a:pt x="0" y="3332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62000" y="2619375"/>
            <a:ext cx="4381500" cy="1428902"/>
          </a:xfrm>
          <a:custGeom>
            <a:avLst/>
            <a:gdLst/>
            <a:ahLst/>
            <a:cxnLst/>
            <a:rect l="l" t="t" r="r" b="b"/>
            <a:pathLst>
              <a:path w="4381500" h="1428902">
                <a:moveTo>
                  <a:pt x="0" y="0"/>
                </a:moveTo>
                <a:lnTo>
                  <a:pt x="4381500" y="0"/>
                </a:lnTo>
                <a:lnTo>
                  <a:pt x="4381500" y="1428902"/>
                </a:lnTo>
                <a:lnTo>
                  <a:pt x="0" y="14289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8561" y="55369"/>
            <a:ext cx="8603504" cy="803072"/>
          </a:xfrm>
          <a:custGeom>
            <a:avLst/>
            <a:gdLst/>
            <a:ahLst/>
            <a:cxnLst/>
            <a:rect l="l" t="t" r="r" b="b"/>
            <a:pathLst>
              <a:path w="8603504" h="803072">
                <a:moveTo>
                  <a:pt x="0" y="0"/>
                </a:moveTo>
                <a:lnTo>
                  <a:pt x="8603504" y="0"/>
                </a:lnTo>
                <a:lnTo>
                  <a:pt x="8603504" y="803072"/>
                </a:lnTo>
                <a:lnTo>
                  <a:pt x="0" y="8030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191250" y="1095375"/>
            <a:ext cx="5143500" cy="3857701"/>
          </a:xfrm>
          <a:custGeom>
            <a:avLst/>
            <a:gdLst/>
            <a:ahLst/>
            <a:cxnLst/>
            <a:rect l="l" t="t" r="r" b="b"/>
            <a:pathLst>
              <a:path w="5143500" h="3857701">
                <a:moveTo>
                  <a:pt x="0" y="0"/>
                </a:moveTo>
                <a:lnTo>
                  <a:pt x="5143500" y="0"/>
                </a:lnTo>
                <a:lnTo>
                  <a:pt x="5143500" y="3857701"/>
                </a:lnTo>
                <a:lnTo>
                  <a:pt x="0" y="38577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109960" y="6355080"/>
            <a:ext cx="183004" cy="122996"/>
          </a:xfrm>
          <a:custGeom>
            <a:avLst/>
            <a:gdLst/>
            <a:ahLst/>
            <a:cxnLst/>
            <a:rect l="l" t="t" r="r" b="b"/>
            <a:pathLst>
              <a:path w="183004" h="122996">
                <a:moveTo>
                  <a:pt x="0" y="0"/>
                </a:moveTo>
                <a:lnTo>
                  <a:pt x="183004" y="0"/>
                </a:lnTo>
                <a:lnTo>
                  <a:pt x="183004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191250" y="1095375"/>
            <a:ext cx="5143500" cy="3857701"/>
            <a:chOff x="0" y="0"/>
            <a:chExt cx="6858000" cy="51436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58000" cy="5143627"/>
            </a:xfrm>
            <a:custGeom>
              <a:avLst/>
              <a:gdLst/>
              <a:ahLst/>
              <a:cxnLst/>
              <a:rect l="l" t="t" r="r" b="b"/>
              <a:pathLst>
                <a:path w="6858000" h="5143627">
                  <a:moveTo>
                    <a:pt x="101600" y="0"/>
                  </a:moveTo>
                  <a:cubicBezTo>
                    <a:pt x="45466" y="0"/>
                    <a:pt x="0" y="45466"/>
                    <a:pt x="0" y="101600"/>
                  </a:cubicBezTo>
                  <a:lnTo>
                    <a:pt x="0" y="5042027"/>
                  </a:lnTo>
                  <a:cubicBezTo>
                    <a:pt x="0" y="5098034"/>
                    <a:pt x="45339" y="5143500"/>
                    <a:pt x="101346" y="5143627"/>
                  </a:cubicBezTo>
                  <a:lnTo>
                    <a:pt x="6756654" y="5143627"/>
                  </a:lnTo>
                  <a:cubicBezTo>
                    <a:pt x="6812661" y="5143500"/>
                    <a:pt x="6858000" y="5098034"/>
                    <a:pt x="6858000" y="5042027"/>
                  </a:cubicBezTo>
                  <a:lnTo>
                    <a:pt x="6858000" y="101600"/>
                  </a:lnTo>
                  <a:cubicBezTo>
                    <a:pt x="6858000" y="74676"/>
                    <a:pt x="6847332" y="48768"/>
                    <a:pt x="6828282" y="29718"/>
                  </a:cubicBezTo>
                  <a:cubicBezTo>
                    <a:pt x="6809232" y="10668"/>
                    <a:pt x="6783324" y="0"/>
                    <a:pt x="6756400" y="0"/>
                  </a:cubicBez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6127747" y="5127622"/>
            <a:ext cx="5270497" cy="1079497"/>
          </a:xfrm>
          <a:custGeom>
            <a:avLst/>
            <a:gdLst/>
            <a:ahLst/>
            <a:cxnLst/>
            <a:rect l="l" t="t" r="r" b="b"/>
            <a:pathLst>
              <a:path w="5270497" h="1079497">
                <a:moveTo>
                  <a:pt x="0" y="0"/>
                </a:moveTo>
                <a:lnTo>
                  <a:pt x="5270497" y="0"/>
                </a:lnTo>
                <a:lnTo>
                  <a:pt x="5270497" y="1079497"/>
                </a:lnTo>
                <a:lnTo>
                  <a:pt x="0" y="10794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12064" y="109442"/>
            <a:ext cx="6328962" cy="71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Word2Vec Learns Word Embeddings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" y="2072564"/>
            <a:ext cx="2647178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king → [0.21, -0.63, 0.14, …]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" y="2627909"/>
            <a:ext cx="4121648" cy="86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Each word gets a learned numeric vector. The vector is learned from surrounding word context.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8495" y="5258714"/>
            <a:ext cx="4715875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Words used in similar contexts tend to have similar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7582" y="5502554"/>
            <a:ext cx="4499258" cy="574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vector directions.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Similarity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commonly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measured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cosine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similarity.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8205" y="5819146"/>
            <a:ext cx="50235" cy="2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80064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2000" y="1563110"/>
            <a:ext cx="235619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word → dense vector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4654" y="73657"/>
            <a:ext cx="11820839" cy="890759"/>
          </a:xfrm>
          <a:custGeom>
            <a:avLst/>
            <a:gdLst/>
            <a:ahLst/>
            <a:cxnLst/>
            <a:rect l="l" t="t" r="r" b="b"/>
            <a:pathLst>
              <a:path w="11820839" h="890759">
                <a:moveTo>
                  <a:pt x="0" y="0"/>
                </a:moveTo>
                <a:lnTo>
                  <a:pt x="11820840" y="0"/>
                </a:lnTo>
                <a:lnTo>
                  <a:pt x="11820840" y="890759"/>
                </a:lnTo>
                <a:lnTo>
                  <a:pt x="0" y="8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75720" y="13716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594360" h="594360">
                <a:moveTo>
                  <a:pt x="0" y="0"/>
                </a:moveTo>
                <a:lnTo>
                  <a:pt x="594360" y="0"/>
                </a:lnTo>
                <a:lnTo>
                  <a:pt x="594360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2920" y="6355080"/>
            <a:ext cx="1828800" cy="122996"/>
          </a:xfrm>
          <a:custGeom>
            <a:avLst/>
            <a:gdLst/>
            <a:ahLst/>
            <a:cxnLst/>
            <a:rect l="l" t="t" r="r" b="b"/>
            <a:pathLst>
              <a:path w="1828800" h="122996">
                <a:moveTo>
                  <a:pt x="0" y="0"/>
                </a:moveTo>
                <a:lnTo>
                  <a:pt x="1828800" y="0"/>
                </a:lnTo>
                <a:lnTo>
                  <a:pt x="1828800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53113" y="1164593"/>
            <a:ext cx="5809097" cy="4620196"/>
          </a:xfrm>
          <a:custGeom>
            <a:avLst/>
            <a:gdLst/>
            <a:ahLst/>
            <a:cxnLst/>
            <a:rect l="l" t="t" r="r" b="b"/>
            <a:pathLst>
              <a:path w="5809097" h="4620196">
                <a:moveTo>
                  <a:pt x="0" y="0"/>
                </a:moveTo>
                <a:lnTo>
                  <a:pt x="5809098" y="0"/>
                </a:lnTo>
                <a:lnTo>
                  <a:pt x="5809098" y="4620197"/>
                </a:lnTo>
                <a:lnTo>
                  <a:pt x="0" y="4620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48561" y="55369"/>
            <a:ext cx="8603504" cy="803072"/>
          </a:xfrm>
          <a:custGeom>
            <a:avLst/>
            <a:gdLst/>
            <a:ahLst/>
            <a:cxnLst/>
            <a:rect l="l" t="t" r="r" b="b"/>
            <a:pathLst>
              <a:path w="8603504" h="803072">
                <a:moveTo>
                  <a:pt x="0" y="0"/>
                </a:moveTo>
                <a:lnTo>
                  <a:pt x="8603504" y="0"/>
                </a:lnTo>
                <a:lnTo>
                  <a:pt x="8603504" y="803072"/>
                </a:lnTo>
                <a:lnTo>
                  <a:pt x="0" y="803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794497" y="1353817"/>
            <a:ext cx="4424801" cy="1185939"/>
          </a:xfrm>
          <a:custGeom>
            <a:avLst/>
            <a:gdLst/>
            <a:ahLst/>
            <a:cxnLst/>
            <a:rect l="l" t="t" r="r" b="b"/>
            <a:pathLst>
              <a:path w="4424801" h="1185939">
                <a:moveTo>
                  <a:pt x="0" y="0"/>
                </a:moveTo>
                <a:lnTo>
                  <a:pt x="4424800" y="0"/>
                </a:lnTo>
                <a:lnTo>
                  <a:pt x="4424800" y="1185939"/>
                </a:lnTo>
                <a:lnTo>
                  <a:pt x="0" y="1185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94497" y="2542537"/>
            <a:ext cx="4424801" cy="939641"/>
          </a:xfrm>
          <a:custGeom>
            <a:avLst/>
            <a:gdLst/>
            <a:ahLst/>
            <a:cxnLst/>
            <a:rect l="l" t="t" r="r" b="b"/>
            <a:pathLst>
              <a:path w="4424801" h="939641">
                <a:moveTo>
                  <a:pt x="0" y="0"/>
                </a:moveTo>
                <a:lnTo>
                  <a:pt x="4424800" y="0"/>
                </a:lnTo>
                <a:lnTo>
                  <a:pt x="4424800" y="939641"/>
                </a:lnTo>
                <a:lnTo>
                  <a:pt x="0" y="9396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794497" y="3731257"/>
            <a:ext cx="4424801" cy="939641"/>
          </a:xfrm>
          <a:custGeom>
            <a:avLst/>
            <a:gdLst/>
            <a:ahLst/>
            <a:cxnLst/>
            <a:rect l="l" t="t" r="r" b="b"/>
            <a:pathLst>
              <a:path w="4424801" h="939641">
                <a:moveTo>
                  <a:pt x="0" y="0"/>
                </a:moveTo>
                <a:lnTo>
                  <a:pt x="4424800" y="0"/>
                </a:lnTo>
                <a:lnTo>
                  <a:pt x="4424800" y="939641"/>
                </a:lnTo>
                <a:lnTo>
                  <a:pt x="0" y="9396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109960" y="6355080"/>
            <a:ext cx="183004" cy="122996"/>
          </a:xfrm>
          <a:custGeom>
            <a:avLst/>
            <a:gdLst/>
            <a:ahLst/>
            <a:cxnLst/>
            <a:rect l="l" t="t" r="r" b="b"/>
            <a:pathLst>
              <a:path w="183004" h="122996">
                <a:moveTo>
                  <a:pt x="0" y="0"/>
                </a:moveTo>
                <a:lnTo>
                  <a:pt x="183004" y="0"/>
                </a:lnTo>
                <a:lnTo>
                  <a:pt x="183004" y="122996"/>
                </a:lnTo>
                <a:lnTo>
                  <a:pt x="0" y="1229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2064" y="109442"/>
            <a:ext cx="5219062" cy="495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Let's Implement It with Python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75304" y="528599"/>
            <a:ext cx="57417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0352" y="528599"/>
            <a:ext cx="6287148" cy="28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CountVectorizerandMultinomialNBinsideoneleakage-safe pipeline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00" y="2934614"/>
            <a:ext cx="4132840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MultinomialNB scores each class from those counts. Laplace smoothing is built in.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58000" y="1745894"/>
            <a:ext cx="4110247" cy="117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CountVectorizer learns the vocabulary from X_train and turns messages into word-count rows.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Model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02170" y="3780530"/>
            <a:ext cx="64589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58000" y="4123334"/>
            <a:ext cx="4110247" cy="50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vectorizer and model are fitted only on training data, then evaluated once on X_test.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920" y="6340297"/>
            <a:ext cx="75993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www.aiquest.org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80064" y="6340297"/>
            <a:ext cx="115243" cy="1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3465" y="3144622"/>
            <a:ext cx="3874218" cy="42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5"/>
              </a:lnSpc>
            </a:pPr>
            <a:r>
              <a:rPr lang="en-US" sz="1388" spc="22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X_train</a:t>
            </a:r>
            <a:r>
              <a:rPr lang="en-US" sz="1388" spc="22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 spc="22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X_test</a:t>
            </a:r>
            <a:r>
              <a:rPr lang="en-US" sz="1388" spc="22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 spc="22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y_train</a:t>
            </a:r>
            <a:r>
              <a:rPr lang="en-US" sz="1388" spc="22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 spc="22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y_test </a:t>
            </a:r>
            <a:r>
              <a:rPr lang="en-US" sz="1388" spc="22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=</a:t>
            </a:r>
            <a:r>
              <a:rPr lang="en-US" sz="1388" spc="22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 spc="22">
                <a:solidFill>
                  <a:srgbClr val="2F6FB3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train_test_split</a:t>
            </a:r>
            <a:r>
              <a:rPr lang="en-US" sz="1388" spc="22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(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3465" y="3577199"/>
            <a:ext cx="107880" cy="24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388" spc="24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76527" y="3577199"/>
            <a:ext cx="3664248" cy="246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388" spc="24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X</a:t>
            </a:r>
            <a:r>
              <a:rPr lang="en-US" sz="1388" spc="24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 spc="24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y</a:t>
            </a:r>
            <a:r>
              <a:rPr lang="en-US" sz="1388" spc="24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 spc="24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test_size</a:t>
            </a:r>
            <a:r>
              <a:rPr lang="en-US" sz="1388" spc="24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=</a:t>
            </a:r>
            <a:r>
              <a:rPr lang="en-US" sz="1388" spc="24">
                <a:solidFill>
                  <a:srgbClr val="B45F06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0.2</a:t>
            </a:r>
            <a:r>
              <a:rPr lang="en-US" sz="1388" spc="24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 spc="24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stratify</a:t>
            </a:r>
            <a:r>
              <a:rPr lang="en-US" sz="1388" spc="24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=</a:t>
            </a:r>
            <a:r>
              <a:rPr lang="en-US" sz="1388" spc="24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y</a:t>
            </a:r>
            <a:r>
              <a:rPr lang="en-US" sz="1388" spc="24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 spc="24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3465" y="3788731"/>
            <a:ext cx="1655836" cy="49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388" spc="20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random_state</a:t>
            </a:r>
            <a:r>
              <a:rPr lang="en-US" sz="1388" spc="20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=</a:t>
            </a:r>
            <a:r>
              <a:rPr lang="en-US" sz="1388" spc="20">
                <a:solidFill>
                  <a:srgbClr val="B45F06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42 </a:t>
            </a:r>
            <a:r>
              <a:rPr lang="en-US" sz="1388" spc="20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3465" y="4537624"/>
            <a:ext cx="4538872" cy="95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model 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=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2F6FB3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make_pipeline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(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CountVectorizer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(),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MultinomialNB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())</a:t>
            </a:r>
          </a:p>
          <a:p>
            <a:pPr algn="l">
              <a:lnSpc>
                <a:spcPts val="1965"/>
              </a:lnSpc>
            </a:pP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model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.</a:t>
            </a:r>
            <a:r>
              <a:rPr lang="en-US" sz="1388">
                <a:solidFill>
                  <a:srgbClr val="2F6FB3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fit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(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X_train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y_train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) 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print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(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model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.</a:t>
            </a:r>
            <a:r>
              <a:rPr lang="en-US" sz="1388">
                <a:solidFill>
                  <a:srgbClr val="2F6FB3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score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(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X_test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,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y_test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))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3465" y="1444828"/>
            <a:ext cx="4918091" cy="142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from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sklearn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.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model_selection </a:t>
            </a: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import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train_test_split</a:t>
            </a:r>
          </a:p>
          <a:p>
            <a:pPr algn="l">
              <a:lnSpc>
                <a:spcPts val="1965"/>
              </a:lnSpc>
            </a:pP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from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sklearn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.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feature_extraction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.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text </a:t>
            </a: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import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CountVectorizer</a:t>
            </a:r>
          </a:p>
          <a:p>
            <a:pPr algn="l">
              <a:lnSpc>
                <a:spcPts val="1965"/>
              </a:lnSpc>
            </a:pP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from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sklearn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.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naive_bayes </a:t>
            </a: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import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MultinomialNB </a:t>
            </a: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from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sklearn</a:t>
            </a:r>
            <a:r>
              <a:rPr lang="en-US" sz="1388">
                <a:solidFill>
                  <a:srgbClr val="444444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.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pipeline </a:t>
            </a:r>
            <a:r>
              <a:rPr lang="en-US" sz="1388" b="1" i="1">
                <a:solidFill>
                  <a:srgbClr val="7A3E9D"/>
                </a:solidFill>
                <a:latin typeface="Courier New OS Bold Italics"/>
                <a:ea typeface="Courier New OS Bold Italics"/>
                <a:cs typeface="Courier New OS Bold Italics"/>
                <a:sym typeface="Courier New OS Bold Italics"/>
              </a:rPr>
              <a:t>import</a:t>
            </a:r>
            <a:r>
              <a:rPr lang="en-US" sz="1388">
                <a:solidFill>
                  <a:srgbClr val="222222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 </a:t>
            </a:r>
            <a:r>
              <a:rPr lang="en-US" sz="1388">
                <a:solidFill>
                  <a:srgbClr val="1F4E79"/>
                </a:solidFill>
                <a:latin typeface="Courier New OS"/>
                <a:ea typeface="Courier New OS"/>
                <a:cs typeface="Courier New OS"/>
                <a:sym typeface="Courier New OS"/>
              </a:rPr>
              <a:t>make_pipeline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8000" y="1403090"/>
            <a:ext cx="111386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Vectorizer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58000" y="3780530"/>
            <a:ext cx="139740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F4E79"/>
                </a:solidFill>
                <a:latin typeface="Arial Bold"/>
                <a:ea typeface="Arial Bold"/>
                <a:cs typeface="Arial Bold"/>
                <a:sym typeface="Arial Bold"/>
              </a:rPr>
              <a:t>Onepipeline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2605</Words>
  <Application>Microsoft Macintosh PowerPoint</Application>
  <PresentationFormat>Widescreen</PresentationFormat>
  <Paragraphs>440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 Bold</vt:lpstr>
      <vt:lpstr>Calibri Light</vt:lpstr>
      <vt:lpstr>Arial Italics</vt:lpstr>
      <vt:lpstr>Arial</vt:lpstr>
      <vt:lpstr>Courier New OS</vt:lpstr>
      <vt:lpstr>Calibri</vt:lpstr>
      <vt:lpstr>Courier New OS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Ref-Naive Bayes &amp; NLP Fundamentals.pptx.pdf</dc:title>
  <cp:lastModifiedBy>N@ eeeM</cp:lastModifiedBy>
  <cp:revision>2</cp:revision>
  <dcterms:created xsi:type="dcterms:W3CDTF">2006-08-16T00:00:00Z</dcterms:created>
  <dcterms:modified xsi:type="dcterms:W3CDTF">2026-09-14T17:15:33Z</dcterms:modified>
  <dc:identifier>DAHVMSU01oY</dc:identifier>
</cp:coreProperties>
</file>